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slides/slide6.xml" ContentType="application/vnd.openxmlformats-officedocument.presentationml.slide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Slides/notesSlide8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>
  <p:sldMasterIdLst>
    <p:sldMasterId id="2147483648" r:id="rId1"/>
  </p:sldMasterIdLst>
  <p:notesMasterIdLst>
    <p:notesMasterId r:id="rId13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9144000" cy="5143500"/>
  <p:notesSz cx="5143500" cy="9144000"/>
  <p:defaultTextStyle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>
        <p:guide pos="2880"/>
        <p:guide pos="1620" orient="horz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 /><Relationship Id="rId15" Type="http://schemas.openxmlformats.org/officeDocument/2006/relationships/tableStyles" Target="tableStyles.xml" /><Relationship Id="rId16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4479329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273841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1650676962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205239214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2118160800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903619770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888828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063874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6505997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262294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903741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7160726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677264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4124344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507266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527751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101122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9791488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24138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2904792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677542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604934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136296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331990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528093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1451302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455072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252121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9180180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418398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661923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990023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518765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409355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6834871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800192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dt="0" ftr="0" hdr="0" sldNum="0"/>
  <p:txStyles>
    <p:titleStyle>
      <a:lvl1pPr algn="ctr" defTabSz="9144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">
    <p:bg>
      <p:bgPr shadeToTitle="0">
        <a:solidFill>
          <a:srgbClr val="0D1B2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5150658" name="Shape 0"/>
          <p:cNvSpPr/>
          <p:nvPr/>
        </p:nvSpPr>
        <p:spPr bwMode="auto">
          <a:xfrm>
            <a:off x="457200" y="1005840"/>
            <a:ext cx="64008" cy="31089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344573239" name="Text 1"/>
          <p:cNvSpPr/>
          <p:nvPr/>
        </p:nvSpPr>
        <p:spPr bwMode="auto">
          <a:xfrm>
            <a:off x="685800" y="96012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 spc="300">
                <a:solidFill>
                  <a:srgbClr val="06B6D4"/>
                </a:solidFill>
                <a:latin typeface="Calibri"/>
                <a:ea typeface="Calibri"/>
                <a:cs typeface="Calibri"/>
              </a:rPr>
              <a:t>КУРСОВА РОБОТА · Технології програмування</a:t>
            </a:r>
            <a:endParaRPr lang="en-US" sz="1300"/>
          </a:p>
        </p:txBody>
      </p:sp>
      <p:sp>
        <p:nvSpPr>
          <p:cNvPr id="616565163" name="Text 2"/>
          <p:cNvSpPr/>
          <p:nvPr/>
        </p:nvSpPr>
        <p:spPr bwMode="auto">
          <a:xfrm>
            <a:off x="685800" y="1417320"/>
            <a:ext cx="7772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3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Трекер домашніх справ</a:t>
            </a:r>
            <a:endParaRPr lang="en-US" sz="3800"/>
          </a:p>
        </p:txBody>
      </p:sp>
      <p:sp>
        <p:nvSpPr>
          <p:cNvPr id="1905606479" name="Text 3"/>
          <p:cNvSpPr/>
          <p:nvPr/>
        </p:nvSpPr>
        <p:spPr bwMode="auto">
          <a:xfrm>
            <a:off x="685800" y="265176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700" i="1">
                <a:solidFill>
                  <a:srgbClr val="8DA0B3"/>
                </a:solidFill>
                <a:latin typeface="Calibri"/>
                <a:ea typeface="Calibri"/>
                <a:cs typeface="Calibri"/>
              </a:rPr>
              <a:t>React · TypeScript · Node.js · Express · SQLite</a:t>
            </a:r>
            <a:endParaRPr lang="en-US" sz="1700"/>
          </a:p>
        </p:txBody>
      </p:sp>
      <p:sp>
        <p:nvSpPr>
          <p:cNvPr id="1363626619" name="Shape 4"/>
          <p:cNvSpPr/>
          <p:nvPr/>
        </p:nvSpPr>
        <p:spPr bwMode="auto">
          <a:xfrm>
            <a:off x="685800" y="3291840"/>
            <a:ext cx="7772400" cy="0"/>
          </a:xfrm>
          <a:prstGeom prst="line">
            <a:avLst/>
          </a:prstGeom>
          <a:noFill/>
          <a:ln w="12700">
            <a:solidFill>
              <a:srgbClr val="0891B2"/>
            </a:solidFill>
            <a:prstDash val="solid"/>
          </a:ln>
        </p:spPr>
      </p:sp>
      <p:sp>
        <p:nvSpPr>
          <p:cNvPr id="87755890" name="Text 5"/>
          <p:cNvSpPr/>
          <p:nvPr/>
        </p:nvSpPr>
        <p:spPr bwMode="auto">
          <a:xfrm>
            <a:off x="685800" y="3429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>
                <a:solidFill>
                  <a:srgbClr val="8DA0B3"/>
                </a:solidFill>
                <a:latin typeface="Calibri"/>
                <a:ea typeface="Calibri"/>
                <a:cs typeface="Calibri"/>
              </a:rPr>
              <a:t>Клименко Єгор Павлович · ІР–21 · Керівник: Терещук Г.М · 2025</a:t>
            </a:r>
            <a:endParaRPr lang="en-US" sz="13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2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6600430" name="Shape 0"/>
          <p:cNvSpPr/>
          <p:nvPr/>
        </p:nvSpPr>
        <p:spPr bwMode="auto"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35615553" name="Text 1"/>
          <p:cNvSpPr/>
          <p:nvPr/>
        </p:nvSpPr>
        <p:spPr bwMode="auto">
          <a:xfrm>
            <a:off x="365760" y="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Мета та постановка задачі</a:t>
            </a:r>
            <a:endParaRPr lang="en-US" sz="2600"/>
          </a:p>
        </p:txBody>
      </p:sp>
      <p:sp>
        <p:nvSpPr>
          <p:cNvPr id="2127445068" name="Text 2"/>
          <p:cNvSpPr/>
          <p:nvPr/>
        </p:nvSpPr>
        <p:spPr bwMode="auto">
          <a:xfrm>
            <a:off x="365760" y="109728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Проблема</a:t>
            </a:r>
            <a:endParaRPr lang="en-US" sz="1400"/>
          </a:p>
        </p:txBody>
      </p:sp>
      <p:sp>
        <p:nvSpPr>
          <p:cNvPr id="1521371866" name="Text 3"/>
          <p:cNvSpPr/>
          <p:nvPr/>
        </p:nvSpPr>
        <p:spPr bwMode="auto">
          <a:xfrm>
            <a:off x="365760" y="1463040"/>
            <a:ext cx="39319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  <a:defRPr/>
            </a:pPr>
            <a:r>
              <a:rPr lang="en-US" sz="150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Студент щодня виконує десятки завдань</a:t>
            </a:r>
            <a:endParaRPr lang="en-US" sz="1500"/>
          </a:p>
          <a:p>
            <a:pPr marL="342900" indent="-342900">
              <a:buSzPct val="100000"/>
              <a:buChar char="•"/>
              <a:defRPr/>
            </a:pPr>
            <a:r>
              <a:rPr lang="en-US" sz="150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Без структури — пропущені дедлайни</a:t>
            </a:r>
            <a:endParaRPr lang="en-US" sz="1500"/>
          </a:p>
          <a:p>
            <a:pPr marL="342900" indent="-342900">
              <a:buSzPct val="100000"/>
              <a:buChar char="•"/>
              <a:defRPr/>
            </a:pPr>
            <a:r>
              <a:rPr lang="en-US" sz="150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Перевантаження конкретних днів</a:t>
            </a:r>
            <a:endParaRPr lang="en-US" sz="1500"/>
          </a:p>
          <a:p>
            <a:pPr marL="342900" indent="-342900">
              <a:buSzPct val="100000"/>
              <a:buChar char="•"/>
              <a:defRPr/>
            </a:pPr>
            <a:r>
              <a:rPr lang="en-US" sz="150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Складно планувати реалістично</a:t>
            </a:r>
            <a:endParaRPr lang="en-US" sz="1500"/>
          </a:p>
        </p:txBody>
      </p:sp>
      <p:sp>
        <p:nvSpPr>
          <p:cNvPr id="1518123877" name="Text 4"/>
          <p:cNvSpPr/>
          <p:nvPr/>
        </p:nvSpPr>
        <p:spPr bwMode="auto">
          <a:xfrm>
            <a:off x="4754880" y="109728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Мета роботи</a:t>
            </a:r>
            <a:endParaRPr lang="en-US" sz="1400"/>
          </a:p>
        </p:txBody>
      </p:sp>
      <p:sp>
        <p:nvSpPr>
          <p:cNvPr id="678914346" name="Text 5"/>
          <p:cNvSpPr/>
          <p:nvPr/>
        </p:nvSpPr>
        <p:spPr bwMode="auto">
          <a:xfrm>
            <a:off x="4754880" y="1463040"/>
            <a:ext cx="40233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  <a:defRPr/>
            </a:pPr>
            <a:r>
              <a:rPr lang="en-US" sz="150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Розробити вебзастосунок для планування</a:t>
            </a:r>
            <a:endParaRPr lang="en-US" sz="1500"/>
          </a:p>
          <a:p>
            <a:pPr marL="342900" indent="-342900">
              <a:buSzPct val="100000"/>
              <a:buChar char="•"/>
              <a:defRPr/>
            </a:pPr>
            <a:r>
              <a:rPr lang="en-US" sz="150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CRUD-операції з задачами через REST API</a:t>
            </a:r>
            <a:endParaRPr lang="en-US" sz="1500"/>
          </a:p>
          <a:p>
            <a:pPr marL="342900" indent="-342900">
              <a:buSzPct val="100000"/>
              <a:buChar char="•"/>
              <a:defRPr/>
            </a:pPr>
            <a:r>
              <a:rPr lang="en-US" sz="150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Нормалізована реляційна БД (SQLite)</a:t>
            </a:r>
            <a:endParaRPr lang="en-US" sz="1500"/>
          </a:p>
          <a:p>
            <a:pPr marL="342900" indent="-342900">
              <a:buSzPct val="100000"/>
              <a:buChar char="•"/>
              <a:defRPr/>
            </a:pPr>
            <a:r>
              <a:rPr lang="en-US" sz="150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Контроль добового навантаження (24 год)</a:t>
            </a:r>
            <a:endParaRPr lang="en-US" sz="1500"/>
          </a:p>
          <a:p>
            <a:pPr marL="342900" indent="-342900">
              <a:buSzPct val="100000"/>
              <a:buChar char="•"/>
              <a:defRPr/>
            </a:pPr>
            <a:r>
              <a:rPr lang="en-US" sz="150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Аналітика: статистика і діаграми</a:t>
            </a:r>
            <a:endParaRPr lang="en-US" sz="1500"/>
          </a:p>
        </p:txBody>
      </p:sp>
      <p:sp>
        <p:nvSpPr>
          <p:cNvPr id="1919562528" name="Shape 6"/>
          <p:cNvSpPr/>
          <p:nvPr/>
        </p:nvSpPr>
        <p:spPr bwMode="auto">
          <a:xfrm>
            <a:off x="365760" y="3657600"/>
            <a:ext cx="8412480" cy="68580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10956505" name="Text 7"/>
          <p:cNvSpPr/>
          <p:nvPr/>
        </p:nvSpPr>
        <p:spPr bwMode="auto">
          <a:xfrm>
            <a:off x="548640" y="370332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92400E"/>
                </a:solidFill>
                <a:latin typeface="Calibri"/>
                <a:ea typeface="Calibri"/>
                <a:cs typeface="Calibri"/>
              </a:rPr>
              <a:t>Ключове технічне рішення: перехід від localStorage до нормалізованої реляційної БД SQLite з локальним REST API</a:t>
            </a:r>
            <a:endParaRPr lang="en-US" sz="13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3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6699945" name="Shape 0"/>
          <p:cNvSpPr/>
          <p:nvPr/>
        </p:nvSpPr>
        <p:spPr bwMode="auto"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85011204" name="Text 1"/>
          <p:cNvSpPr/>
          <p:nvPr/>
        </p:nvSpPr>
        <p:spPr bwMode="auto">
          <a:xfrm>
            <a:off x="365760" y="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Технічний стек</a:t>
            </a:r>
            <a:endParaRPr lang="en-US" sz="2600"/>
          </a:p>
        </p:txBody>
      </p:sp>
      <p:sp>
        <p:nvSpPr>
          <p:cNvPr id="615729708" name="Shape 2"/>
          <p:cNvSpPr/>
          <p:nvPr/>
        </p:nvSpPr>
        <p:spPr bwMode="auto">
          <a:xfrm>
            <a:off x="274320" y="1143000"/>
            <a:ext cx="2743200" cy="1600200"/>
          </a:xfrm>
          <a:prstGeom prst="rect">
            <a:avLst/>
          </a:prstGeom>
          <a:solidFill>
            <a:srgbClr val="F0F8F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27911694" name="Shape 3"/>
          <p:cNvSpPr/>
          <p:nvPr/>
        </p:nvSpPr>
        <p:spPr bwMode="auto">
          <a:xfrm>
            <a:off x="274320" y="1143000"/>
            <a:ext cx="2743200" cy="3657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70958631" name="Text 4"/>
          <p:cNvSpPr/>
          <p:nvPr/>
        </p:nvSpPr>
        <p:spPr bwMode="auto">
          <a:xfrm>
            <a:off x="347472" y="114300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React 18 + TypeScript</a:t>
            </a:r>
            <a:endParaRPr lang="en-US" sz="1200"/>
          </a:p>
        </p:txBody>
      </p:sp>
      <p:sp>
        <p:nvSpPr>
          <p:cNvPr id="1992972075" name="Text 5"/>
          <p:cNvSpPr/>
          <p:nvPr/>
        </p:nvSpPr>
        <p:spPr bwMode="auto">
          <a:xfrm>
            <a:off x="347472" y="1554480"/>
            <a:ext cx="2606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Компонентна архітектура, статична типізація</a:t>
            </a:r>
            <a:endParaRPr lang="en-US" sz="1100"/>
          </a:p>
        </p:txBody>
      </p:sp>
      <p:sp>
        <p:nvSpPr>
          <p:cNvPr id="424037132" name="Shape 6"/>
          <p:cNvSpPr/>
          <p:nvPr/>
        </p:nvSpPr>
        <p:spPr bwMode="auto">
          <a:xfrm>
            <a:off x="3154680" y="1143000"/>
            <a:ext cx="2743200" cy="1600200"/>
          </a:xfrm>
          <a:prstGeom prst="rect">
            <a:avLst/>
          </a:prstGeom>
          <a:solidFill>
            <a:srgbClr val="F0F8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83973500" name="Shape 7"/>
          <p:cNvSpPr/>
          <p:nvPr/>
        </p:nvSpPr>
        <p:spPr bwMode="auto">
          <a:xfrm>
            <a:off x="3154680" y="1143000"/>
            <a:ext cx="2743200" cy="3657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84162214" name="Text 8"/>
          <p:cNvSpPr/>
          <p:nvPr/>
        </p:nvSpPr>
        <p:spPr bwMode="auto">
          <a:xfrm>
            <a:off x="3227832" y="114300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Node.js + Express</a:t>
            </a:r>
            <a:endParaRPr lang="en-US" sz="1200"/>
          </a:p>
        </p:txBody>
      </p:sp>
      <p:sp>
        <p:nvSpPr>
          <p:cNvPr id="1483497357" name="Text 9"/>
          <p:cNvSpPr/>
          <p:nvPr/>
        </p:nvSpPr>
        <p:spPr bwMode="auto">
          <a:xfrm>
            <a:off x="3227832" y="1554480"/>
            <a:ext cx="2606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Локальний REST API-сервер (порт 3001)</a:t>
            </a:r>
            <a:endParaRPr lang="en-US" sz="1100"/>
          </a:p>
        </p:txBody>
      </p:sp>
      <p:sp>
        <p:nvSpPr>
          <p:cNvPr id="1965192777" name="Shape 10"/>
          <p:cNvSpPr/>
          <p:nvPr/>
        </p:nvSpPr>
        <p:spPr bwMode="auto">
          <a:xfrm>
            <a:off x="6035039" y="1143000"/>
            <a:ext cx="2743200" cy="1600200"/>
          </a:xfrm>
          <a:prstGeom prst="rect">
            <a:avLst/>
          </a:prstGeom>
          <a:solidFill>
            <a:srgbClr val="F0F8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59765535" name="Shape 11"/>
          <p:cNvSpPr/>
          <p:nvPr/>
        </p:nvSpPr>
        <p:spPr bwMode="auto">
          <a:xfrm>
            <a:off x="6035039" y="1143000"/>
            <a:ext cx="2743200" cy="3657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72475474" name="Text 12"/>
          <p:cNvSpPr/>
          <p:nvPr/>
        </p:nvSpPr>
        <p:spPr bwMode="auto">
          <a:xfrm>
            <a:off x="6108192" y="114300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SQLite (better-sqlite3)</a:t>
            </a:r>
            <a:endParaRPr lang="en-US" sz="1200"/>
          </a:p>
        </p:txBody>
      </p:sp>
      <p:sp>
        <p:nvSpPr>
          <p:cNvPr id="1234316343" name="Text 13"/>
          <p:cNvSpPr/>
          <p:nvPr/>
        </p:nvSpPr>
        <p:spPr bwMode="auto">
          <a:xfrm>
            <a:off x="6108192" y="1554480"/>
            <a:ext cx="2606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Реляційна БД без окремого сервера (tasks.db)</a:t>
            </a:r>
            <a:endParaRPr lang="en-US" sz="1100"/>
          </a:p>
        </p:txBody>
      </p:sp>
      <p:sp>
        <p:nvSpPr>
          <p:cNvPr id="222722154" name="Shape 14"/>
          <p:cNvSpPr/>
          <p:nvPr/>
        </p:nvSpPr>
        <p:spPr bwMode="auto">
          <a:xfrm>
            <a:off x="274320" y="2971800"/>
            <a:ext cx="2743200" cy="1600200"/>
          </a:xfrm>
          <a:prstGeom prst="rect">
            <a:avLst/>
          </a:prstGeom>
          <a:solidFill>
            <a:srgbClr val="F0F8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41808233" name="Shape 15"/>
          <p:cNvSpPr/>
          <p:nvPr/>
        </p:nvSpPr>
        <p:spPr bwMode="auto">
          <a:xfrm>
            <a:off x="274320" y="2971800"/>
            <a:ext cx="2743200" cy="3657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87610886" name="Text 16"/>
          <p:cNvSpPr/>
          <p:nvPr/>
        </p:nvSpPr>
        <p:spPr bwMode="auto">
          <a:xfrm>
            <a:off x="347472" y="297180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PostgreSQL (pg)</a:t>
            </a:r>
            <a:endParaRPr lang="en-US" sz="1200"/>
          </a:p>
        </p:txBody>
      </p:sp>
      <p:sp>
        <p:nvSpPr>
          <p:cNvPr id="326147236" name="Text 17"/>
          <p:cNvSpPr/>
          <p:nvPr/>
        </p:nvSpPr>
        <p:spPr bwMode="auto">
          <a:xfrm>
            <a:off x="347472" y="3383280"/>
            <a:ext cx="2606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Альтернативна СУБД, перемикання через DB_TYPE</a:t>
            </a:r>
            <a:endParaRPr lang="en-US" sz="1100"/>
          </a:p>
        </p:txBody>
      </p:sp>
      <p:sp>
        <p:nvSpPr>
          <p:cNvPr id="6797569" name="Shape 18"/>
          <p:cNvSpPr/>
          <p:nvPr/>
        </p:nvSpPr>
        <p:spPr bwMode="auto">
          <a:xfrm>
            <a:off x="3154680" y="2971800"/>
            <a:ext cx="2743200" cy="1600200"/>
          </a:xfrm>
          <a:prstGeom prst="rect">
            <a:avLst/>
          </a:prstGeom>
          <a:solidFill>
            <a:srgbClr val="F0F8F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10908785" name="Shape 19"/>
          <p:cNvSpPr/>
          <p:nvPr/>
        </p:nvSpPr>
        <p:spPr bwMode="auto">
          <a:xfrm>
            <a:off x="3154680" y="2971800"/>
            <a:ext cx="2743200" cy="365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45666609" name="Text 20"/>
          <p:cNvSpPr/>
          <p:nvPr/>
        </p:nvSpPr>
        <p:spPr bwMode="auto">
          <a:xfrm>
            <a:off x="3227832" y="297180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Chart.js</a:t>
            </a:r>
            <a:endParaRPr lang="en-US" sz="1200"/>
          </a:p>
        </p:txBody>
      </p:sp>
      <p:sp>
        <p:nvSpPr>
          <p:cNvPr id="108753775" name="Text 21"/>
          <p:cNvSpPr/>
          <p:nvPr/>
        </p:nvSpPr>
        <p:spPr bwMode="auto">
          <a:xfrm>
            <a:off x="3227832" y="3383280"/>
            <a:ext cx="2606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Діаграми розподілу по статусах і пріоритетах</a:t>
            </a:r>
            <a:endParaRPr lang="en-US" sz="1100"/>
          </a:p>
        </p:txBody>
      </p:sp>
      <p:sp>
        <p:nvSpPr>
          <p:cNvPr id="1888890918" name="Shape 22"/>
          <p:cNvSpPr/>
          <p:nvPr/>
        </p:nvSpPr>
        <p:spPr bwMode="auto">
          <a:xfrm>
            <a:off x="6035039" y="2971800"/>
            <a:ext cx="2743200" cy="1600200"/>
          </a:xfrm>
          <a:prstGeom prst="rect">
            <a:avLst/>
          </a:prstGeom>
          <a:solidFill>
            <a:srgbClr val="F0F8FF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669565548" name="Shape 23"/>
          <p:cNvSpPr/>
          <p:nvPr/>
        </p:nvSpPr>
        <p:spPr bwMode="auto">
          <a:xfrm>
            <a:off x="6035039" y="2971800"/>
            <a:ext cx="2743200" cy="3657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299109350" name="Text 24"/>
          <p:cNvSpPr/>
          <p:nvPr/>
        </p:nvSpPr>
        <p:spPr bwMode="auto">
          <a:xfrm>
            <a:off x="6108192" y="297180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Tailwind CSS</a:t>
            </a:r>
            <a:endParaRPr lang="en-US" sz="1200"/>
          </a:p>
        </p:txBody>
      </p:sp>
      <p:sp>
        <p:nvSpPr>
          <p:cNvPr id="1740756679" name="Text 25"/>
          <p:cNvSpPr/>
          <p:nvPr/>
        </p:nvSpPr>
        <p:spPr bwMode="auto">
          <a:xfrm>
            <a:off x="6108192" y="3383280"/>
            <a:ext cx="2606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Стилізування, кольорові бейджи з довідників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4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470612" name="Shape 0"/>
          <p:cNvSpPr/>
          <p:nvPr/>
        </p:nvSpPr>
        <p:spPr bwMode="auto"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48849855" name="Text 1"/>
          <p:cNvSpPr/>
          <p:nvPr/>
        </p:nvSpPr>
        <p:spPr bwMode="auto">
          <a:xfrm>
            <a:off x="365760" y="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Архітектура застосунку</a:t>
            </a:r>
            <a:endParaRPr lang="en-US" sz="2600"/>
          </a:p>
        </p:txBody>
      </p:sp>
      <p:sp>
        <p:nvSpPr>
          <p:cNvPr id="950991326" name="Shape 2"/>
          <p:cNvSpPr/>
          <p:nvPr/>
        </p:nvSpPr>
        <p:spPr bwMode="auto">
          <a:xfrm>
            <a:off x="365760" y="1188720"/>
            <a:ext cx="2651760" cy="10058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81457167" name="Text 3"/>
          <p:cNvSpPr/>
          <p:nvPr/>
        </p:nvSpPr>
        <p:spPr bwMode="auto">
          <a:xfrm>
            <a:off x="365760" y="1188720"/>
            <a:ext cx="2651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React SPA</a:t>
            </a:r>
            <a:endParaRPr lang="en-US" sz="1400"/>
          </a:p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(порт 5173)</a:t>
            </a:r>
            <a:endParaRPr lang="en-US" sz="1400"/>
          </a:p>
        </p:txBody>
      </p:sp>
      <p:sp>
        <p:nvSpPr>
          <p:cNvPr id="729902996" name="Shape 4"/>
          <p:cNvSpPr/>
          <p:nvPr/>
        </p:nvSpPr>
        <p:spPr bwMode="auto">
          <a:xfrm>
            <a:off x="3246120" y="1188720"/>
            <a:ext cx="2651760" cy="10058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46503905" name="Text 5"/>
          <p:cNvSpPr/>
          <p:nvPr/>
        </p:nvSpPr>
        <p:spPr bwMode="auto">
          <a:xfrm>
            <a:off x="3246120" y="1188720"/>
            <a:ext cx="2651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Node.js + Express</a:t>
            </a:r>
            <a:endParaRPr lang="en-US" sz="1400"/>
          </a:p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(порт 3001)</a:t>
            </a:r>
            <a:endParaRPr lang="en-US" sz="1400"/>
          </a:p>
        </p:txBody>
      </p:sp>
      <p:sp>
        <p:nvSpPr>
          <p:cNvPr id="371450269" name="Shape 6"/>
          <p:cNvSpPr/>
          <p:nvPr/>
        </p:nvSpPr>
        <p:spPr bwMode="auto">
          <a:xfrm>
            <a:off x="6126480" y="1188720"/>
            <a:ext cx="2651760" cy="1005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66643744" name="Text 7"/>
          <p:cNvSpPr/>
          <p:nvPr/>
        </p:nvSpPr>
        <p:spPr bwMode="auto">
          <a:xfrm>
            <a:off x="6126480" y="1188720"/>
            <a:ext cx="2651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SQLite</a:t>
            </a:r>
            <a:endParaRPr lang="en-US" sz="1400"/>
          </a:p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tasks.db</a:t>
            </a:r>
            <a:endParaRPr lang="en-US" sz="1400"/>
          </a:p>
        </p:txBody>
      </p:sp>
      <p:sp>
        <p:nvSpPr>
          <p:cNvPr id="215516553" name="Shape 8"/>
          <p:cNvSpPr/>
          <p:nvPr/>
        </p:nvSpPr>
        <p:spPr bwMode="auto">
          <a:xfrm>
            <a:off x="3035808" y="1691640"/>
            <a:ext cx="201168" cy="0"/>
          </a:xfrm>
          <a:prstGeom prst="line">
            <a:avLst/>
          </a:prstGeom>
          <a:noFill/>
          <a:ln w="12700">
            <a:solidFill>
              <a:srgbClr val="8DA0B3"/>
            </a:solidFill>
            <a:prstDash val="solid"/>
          </a:ln>
        </p:spPr>
      </p:sp>
      <p:sp>
        <p:nvSpPr>
          <p:cNvPr id="1316291391" name="Text 9"/>
          <p:cNvSpPr/>
          <p:nvPr/>
        </p:nvSpPr>
        <p:spPr bwMode="auto">
          <a:xfrm>
            <a:off x="2898648" y="13716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900">
                <a:solidFill>
                  <a:srgbClr val="8DA0B3"/>
                </a:solidFill>
                <a:latin typeface="Calibri"/>
                <a:ea typeface="Calibri"/>
                <a:cs typeface="Calibri"/>
              </a:rPr>
              <a:t>HTTP</a:t>
            </a:r>
            <a:endParaRPr lang="en-US" sz="900"/>
          </a:p>
          <a:p>
            <a:pPr marL="0" indent="0" algn="ctr">
              <a:buNone/>
              <a:defRPr/>
            </a:pPr>
            <a:r>
              <a:rPr lang="en-US" sz="900">
                <a:solidFill>
                  <a:srgbClr val="8DA0B3"/>
                </a:solidFill>
                <a:latin typeface="Calibri"/>
                <a:ea typeface="Calibri"/>
                <a:cs typeface="Calibri"/>
              </a:rPr>
              <a:t>REST</a:t>
            </a:r>
            <a:endParaRPr lang="en-US" sz="900"/>
          </a:p>
        </p:txBody>
      </p:sp>
      <p:sp>
        <p:nvSpPr>
          <p:cNvPr id="1235315484" name="Shape 10"/>
          <p:cNvSpPr/>
          <p:nvPr/>
        </p:nvSpPr>
        <p:spPr bwMode="auto">
          <a:xfrm>
            <a:off x="5916168" y="1691640"/>
            <a:ext cx="201168" cy="0"/>
          </a:xfrm>
          <a:prstGeom prst="line">
            <a:avLst/>
          </a:prstGeom>
          <a:noFill/>
          <a:ln w="12700">
            <a:solidFill>
              <a:srgbClr val="8DA0B3"/>
            </a:solidFill>
            <a:prstDash val="solid"/>
          </a:ln>
        </p:spPr>
      </p:sp>
      <p:sp>
        <p:nvSpPr>
          <p:cNvPr id="899854823" name="Text 11"/>
          <p:cNvSpPr/>
          <p:nvPr/>
        </p:nvSpPr>
        <p:spPr bwMode="auto">
          <a:xfrm>
            <a:off x="5779008" y="13716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900">
                <a:solidFill>
                  <a:srgbClr val="8DA0B3"/>
                </a:solidFill>
                <a:latin typeface="Calibri"/>
                <a:ea typeface="Calibri"/>
                <a:cs typeface="Calibri"/>
              </a:rPr>
              <a:t>SQL</a:t>
            </a:r>
            <a:endParaRPr lang="en-US" sz="900"/>
          </a:p>
          <a:p>
            <a:pPr marL="0" indent="0" algn="ctr">
              <a:buNone/>
              <a:defRPr/>
            </a:pPr>
            <a:r>
              <a:rPr lang="en-US" sz="900">
                <a:solidFill>
                  <a:srgbClr val="8DA0B3"/>
                </a:solidFill>
                <a:latin typeface="Calibri"/>
                <a:ea typeface="Calibri"/>
                <a:cs typeface="Calibri"/>
              </a:rPr>
              <a:t>JOIN</a:t>
            </a:r>
            <a:endParaRPr lang="en-US" sz="900"/>
          </a:p>
        </p:txBody>
      </p:sp>
      <p:sp>
        <p:nvSpPr>
          <p:cNvPr id="949861782" name="Text 12"/>
          <p:cNvSpPr/>
          <p:nvPr/>
        </p:nvSpPr>
        <p:spPr bwMode="auto">
          <a:xfrm>
            <a:off x="365760" y="2377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Клієнтські компоненти:</a:t>
            </a:r>
            <a:endParaRPr lang="en-US" sz="1300"/>
          </a:p>
        </p:txBody>
      </p:sp>
      <p:sp>
        <p:nvSpPr>
          <p:cNvPr id="1963697258" name="Shape 13"/>
          <p:cNvSpPr/>
          <p:nvPr/>
        </p:nvSpPr>
        <p:spPr bwMode="auto">
          <a:xfrm>
            <a:off x="365760" y="2743200"/>
            <a:ext cx="2743200" cy="384048"/>
          </a:xfrm>
          <a:prstGeom prst="rect">
            <a:avLst/>
          </a:prstGeom>
          <a:solidFill>
            <a:srgbClr val="F0F8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7789968" name="Text 14"/>
          <p:cNvSpPr/>
          <p:nvPr/>
        </p:nvSpPr>
        <p:spPr bwMode="auto">
          <a:xfrm>
            <a:off x="457200" y="2743200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TaskForm</a:t>
            </a:r>
            <a:endParaRPr lang="en-US" sz="1200"/>
          </a:p>
        </p:txBody>
      </p:sp>
      <p:sp>
        <p:nvSpPr>
          <p:cNvPr id="2060348958" name="Shape 15"/>
          <p:cNvSpPr/>
          <p:nvPr/>
        </p:nvSpPr>
        <p:spPr bwMode="auto">
          <a:xfrm>
            <a:off x="3246120" y="2743200"/>
            <a:ext cx="2743200" cy="384048"/>
          </a:xfrm>
          <a:prstGeom prst="rect">
            <a:avLst/>
          </a:prstGeom>
          <a:solidFill>
            <a:srgbClr val="F0F8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64626695" name="Text 16"/>
          <p:cNvSpPr/>
          <p:nvPr/>
        </p:nvSpPr>
        <p:spPr bwMode="auto">
          <a:xfrm>
            <a:off x="3337560" y="2743200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TaskList</a:t>
            </a:r>
            <a:endParaRPr lang="en-US" sz="1200"/>
          </a:p>
        </p:txBody>
      </p:sp>
      <p:sp>
        <p:nvSpPr>
          <p:cNvPr id="58943008" name="Shape 17"/>
          <p:cNvSpPr/>
          <p:nvPr/>
        </p:nvSpPr>
        <p:spPr bwMode="auto">
          <a:xfrm>
            <a:off x="6126480" y="2743200"/>
            <a:ext cx="2743200" cy="384048"/>
          </a:xfrm>
          <a:prstGeom prst="rect">
            <a:avLst/>
          </a:prstGeom>
          <a:solidFill>
            <a:srgbClr val="F0F8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3322401" name="Text 18"/>
          <p:cNvSpPr/>
          <p:nvPr/>
        </p:nvSpPr>
        <p:spPr bwMode="auto">
          <a:xfrm>
            <a:off x="6217920" y="2743200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StatsPanel</a:t>
            </a:r>
            <a:endParaRPr lang="en-US" sz="1200"/>
          </a:p>
        </p:txBody>
      </p:sp>
      <p:sp>
        <p:nvSpPr>
          <p:cNvPr id="768168719" name="Shape 19"/>
          <p:cNvSpPr/>
          <p:nvPr/>
        </p:nvSpPr>
        <p:spPr bwMode="auto">
          <a:xfrm>
            <a:off x="365760" y="3246120"/>
            <a:ext cx="2743200" cy="384048"/>
          </a:xfrm>
          <a:prstGeom prst="rect">
            <a:avLst/>
          </a:prstGeom>
          <a:solidFill>
            <a:srgbClr val="F0F8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0518409" name="Text 20"/>
          <p:cNvSpPr/>
          <p:nvPr/>
        </p:nvSpPr>
        <p:spPr bwMode="auto">
          <a:xfrm>
            <a:off x="457200" y="3246120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ChartsPanel</a:t>
            </a:r>
            <a:endParaRPr lang="en-US" sz="1200"/>
          </a:p>
        </p:txBody>
      </p:sp>
      <p:sp>
        <p:nvSpPr>
          <p:cNvPr id="1238779837" name="Shape 21"/>
          <p:cNvSpPr/>
          <p:nvPr/>
        </p:nvSpPr>
        <p:spPr bwMode="auto">
          <a:xfrm>
            <a:off x="3246120" y="3246120"/>
            <a:ext cx="2743200" cy="384048"/>
          </a:xfrm>
          <a:prstGeom prst="rect">
            <a:avLst/>
          </a:prstGeom>
          <a:solidFill>
            <a:srgbClr val="F0F8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65393100" name="Text 22"/>
          <p:cNvSpPr/>
          <p:nvPr/>
        </p:nvSpPr>
        <p:spPr bwMode="auto">
          <a:xfrm>
            <a:off x="3337560" y="3246120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Modal / Toast</a:t>
            </a:r>
            <a:endParaRPr lang="en-US" sz="1200"/>
          </a:p>
        </p:txBody>
      </p:sp>
      <p:sp>
        <p:nvSpPr>
          <p:cNvPr id="1830239642" name="Shape 23"/>
          <p:cNvSpPr/>
          <p:nvPr/>
        </p:nvSpPr>
        <p:spPr bwMode="auto">
          <a:xfrm>
            <a:off x="6126480" y="3246120"/>
            <a:ext cx="2743200" cy="384048"/>
          </a:xfrm>
          <a:prstGeom prst="rect">
            <a:avLst/>
          </a:prstGeom>
          <a:solidFill>
            <a:srgbClr val="F0F8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8772031" name="Text 24"/>
          <p:cNvSpPr/>
          <p:nvPr/>
        </p:nvSpPr>
        <p:spPr bwMode="auto">
          <a:xfrm>
            <a:off x="6217920" y="3246120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api.ts (HTTP-клієнт)</a:t>
            </a:r>
            <a:endParaRPr lang="en-US" sz="12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5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5012815" name="Shape 0"/>
          <p:cNvSpPr/>
          <p:nvPr/>
        </p:nvSpPr>
        <p:spPr bwMode="auto"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080885097" name="Text 1"/>
          <p:cNvSpPr/>
          <p:nvPr/>
        </p:nvSpPr>
        <p:spPr bwMode="auto">
          <a:xfrm>
            <a:off x="365760" y="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Реляційна схема бази даних (Розділ 4)</a:t>
            </a:r>
            <a:endParaRPr lang="en-US" sz="2600"/>
          </a:p>
        </p:txBody>
      </p:sp>
      <p:sp>
        <p:nvSpPr>
          <p:cNvPr id="699688625" name="Text 2"/>
          <p:cNvSpPr/>
          <p:nvPr/>
        </p:nvSpPr>
        <p:spPr bwMode="auto">
          <a:xfrm>
            <a:off x="365760" y="109728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Нормалізація до 3NF — що змінилось:</a:t>
            </a:r>
            <a:endParaRPr lang="en-US" sz="1300"/>
          </a:p>
        </p:txBody>
      </p:sp>
      <p:sp>
        <p:nvSpPr>
          <p:cNvPr id="564432314" name="Text 3"/>
          <p:cNvSpPr/>
          <p:nvPr/>
        </p:nvSpPr>
        <p:spPr bwMode="auto">
          <a:xfrm>
            <a:off x="365760" y="1463040"/>
            <a:ext cx="50292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  <a:defRPr/>
            </a:pPr>
            <a:r>
              <a:rPr lang="en-US" sz="150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БУЛО: priority: 'high' — рядок прямо в tasks, isCompleted: boolean</a:t>
            </a:r>
            <a:endParaRPr lang="en-US" sz="1500"/>
          </a:p>
          <a:p>
            <a:pPr marL="342900" indent="-342900">
              <a:buSzPct val="100000"/>
              <a:buChar char="•"/>
              <a:defRPr/>
            </a:pPr>
            <a:r>
              <a:rPr lang="en-US" sz="150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СТАЛО: priority_id → таблиця priorities, status_id → таблиця statuses</a:t>
            </a:r>
            <a:endParaRPr lang="en-US" sz="1500"/>
          </a:p>
          <a:p>
            <a:pPr marL="342900" indent="-342900">
              <a:buSzPct val="100000"/>
              <a:buChar char="•"/>
              <a:defRPr/>
            </a:pPr>
            <a:r>
              <a:rPr lang="en-US" sz="150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3 статуси замість булевого: Не виконано · В процесі · Виконано</a:t>
            </a:r>
            <a:endParaRPr lang="en-US" sz="1500"/>
          </a:p>
          <a:p>
            <a:pPr marL="342900" indent="-342900">
              <a:buSzPct val="100000"/>
              <a:buChar char="•"/>
              <a:defRPr/>
            </a:pPr>
            <a:r>
              <a:rPr lang="en-US" sz="150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ON DELETE RESTRICT / SET NULL — посилальна цілісність на рівні СУБД</a:t>
            </a:r>
            <a:endParaRPr lang="en-US" sz="1500"/>
          </a:p>
        </p:txBody>
      </p:sp>
      <p:sp>
        <p:nvSpPr>
          <p:cNvPr id="996216609" name="Shape 4"/>
          <p:cNvSpPr/>
          <p:nvPr/>
        </p:nvSpPr>
        <p:spPr bwMode="auto">
          <a:xfrm>
            <a:off x="5303520" y="1051560"/>
            <a:ext cx="1691640" cy="292608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2131524345" name="Text 5"/>
          <p:cNvSpPr/>
          <p:nvPr/>
        </p:nvSpPr>
        <p:spPr bwMode="auto">
          <a:xfrm>
            <a:off x="5303520" y="1051560"/>
            <a:ext cx="1691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statuses</a:t>
            </a:r>
            <a:endParaRPr lang="en-US" sz="1100"/>
          </a:p>
        </p:txBody>
      </p:sp>
      <p:sp>
        <p:nvSpPr>
          <p:cNvPr id="720814905" name="Shape 6"/>
          <p:cNvSpPr/>
          <p:nvPr/>
        </p:nvSpPr>
        <p:spPr bwMode="auto">
          <a:xfrm>
            <a:off x="5303520" y="1344168"/>
            <a:ext cx="1691640" cy="24688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61849864" name="Text 7"/>
          <p:cNvSpPr/>
          <p:nvPr/>
        </p:nvSpPr>
        <p:spPr bwMode="auto">
          <a:xfrm>
            <a:off x="5349240" y="1344168"/>
            <a:ext cx="1600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id PK</a:t>
            </a:r>
            <a:endParaRPr lang="en-US" sz="1000"/>
          </a:p>
        </p:txBody>
      </p:sp>
      <p:sp>
        <p:nvSpPr>
          <p:cNvPr id="364423350" name="Shape 8"/>
          <p:cNvSpPr/>
          <p:nvPr/>
        </p:nvSpPr>
        <p:spPr bwMode="auto">
          <a:xfrm>
            <a:off x="5303520" y="1591056"/>
            <a:ext cx="1691640" cy="24688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03229054" name="Text 9"/>
          <p:cNvSpPr/>
          <p:nvPr/>
        </p:nvSpPr>
        <p:spPr bwMode="auto">
          <a:xfrm>
            <a:off x="5349240" y="1591056"/>
            <a:ext cx="1600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name</a:t>
            </a:r>
            <a:endParaRPr lang="en-US" sz="1000"/>
          </a:p>
        </p:txBody>
      </p:sp>
      <p:sp>
        <p:nvSpPr>
          <p:cNvPr id="1162660754" name="Shape 10"/>
          <p:cNvSpPr/>
          <p:nvPr/>
        </p:nvSpPr>
        <p:spPr bwMode="auto">
          <a:xfrm>
            <a:off x="5303520" y="1837944"/>
            <a:ext cx="1691640" cy="24688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87475944" name="Text 11"/>
          <p:cNvSpPr/>
          <p:nvPr/>
        </p:nvSpPr>
        <p:spPr bwMode="auto">
          <a:xfrm>
            <a:off x="5349240" y="1837944"/>
            <a:ext cx="1600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label_ua</a:t>
            </a:r>
            <a:endParaRPr lang="en-US" sz="1000"/>
          </a:p>
        </p:txBody>
      </p:sp>
      <p:sp>
        <p:nvSpPr>
          <p:cNvPr id="448357592" name="Shape 12"/>
          <p:cNvSpPr/>
          <p:nvPr/>
        </p:nvSpPr>
        <p:spPr bwMode="auto">
          <a:xfrm>
            <a:off x="5303520" y="2084832"/>
            <a:ext cx="1691640" cy="24688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54005262" name="Text 13"/>
          <p:cNvSpPr/>
          <p:nvPr/>
        </p:nvSpPr>
        <p:spPr bwMode="auto">
          <a:xfrm>
            <a:off x="5349240" y="2084832"/>
            <a:ext cx="1600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color</a:t>
            </a:r>
            <a:endParaRPr lang="en-US" sz="1000"/>
          </a:p>
        </p:txBody>
      </p:sp>
      <p:sp>
        <p:nvSpPr>
          <p:cNvPr id="1296348951" name="Shape 14"/>
          <p:cNvSpPr/>
          <p:nvPr/>
        </p:nvSpPr>
        <p:spPr bwMode="auto">
          <a:xfrm>
            <a:off x="5303520" y="2651760"/>
            <a:ext cx="1691640" cy="2926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04141411" name="Text 15"/>
          <p:cNvSpPr/>
          <p:nvPr/>
        </p:nvSpPr>
        <p:spPr bwMode="auto">
          <a:xfrm>
            <a:off x="5303520" y="2651760"/>
            <a:ext cx="1691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priorities</a:t>
            </a:r>
            <a:endParaRPr lang="en-US" sz="1100"/>
          </a:p>
        </p:txBody>
      </p:sp>
      <p:sp>
        <p:nvSpPr>
          <p:cNvPr id="1760147810" name="Shape 16"/>
          <p:cNvSpPr/>
          <p:nvPr/>
        </p:nvSpPr>
        <p:spPr bwMode="auto">
          <a:xfrm>
            <a:off x="5303520" y="2944368"/>
            <a:ext cx="1691640" cy="24688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2084835" name="Text 17"/>
          <p:cNvSpPr/>
          <p:nvPr/>
        </p:nvSpPr>
        <p:spPr bwMode="auto">
          <a:xfrm>
            <a:off x="5349240" y="2944368"/>
            <a:ext cx="1600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id PK</a:t>
            </a:r>
            <a:endParaRPr lang="en-US" sz="1000"/>
          </a:p>
        </p:txBody>
      </p:sp>
      <p:sp>
        <p:nvSpPr>
          <p:cNvPr id="1920256276" name="Shape 18"/>
          <p:cNvSpPr/>
          <p:nvPr/>
        </p:nvSpPr>
        <p:spPr bwMode="auto">
          <a:xfrm>
            <a:off x="5303520" y="3191256"/>
            <a:ext cx="1691640" cy="24688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65726494" name="Text 19"/>
          <p:cNvSpPr/>
          <p:nvPr/>
        </p:nvSpPr>
        <p:spPr bwMode="auto">
          <a:xfrm>
            <a:off x="5349240" y="3191256"/>
            <a:ext cx="1600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name</a:t>
            </a:r>
            <a:endParaRPr lang="en-US" sz="1000"/>
          </a:p>
        </p:txBody>
      </p:sp>
      <p:sp>
        <p:nvSpPr>
          <p:cNvPr id="1202379002" name="Shape 20"/>
          <p:cNvSpPr/>
          <p:nvPr/>
        </p:nvSpPr>
        <p:spPr bwMode="auto">
          <a:xfrm>
            <a:off x="5303520" y="3438144"/>
            <a:ext cx="1691640" cy="24688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07079112" name="Text 21"/>
          <p:cNvSpPr/>
          <p:nvPr/>
        </p:nvSpPr>
        <p:spPr bwMode="auto">
          <a:xfrm>
            <a:off x="5349240" y="3438144"/>
            <a:ext cx="1600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label_ua</a:t>
            </a:r>
            <a:endParaRPr lang="en-US" sz="1000"/>
          </a:p>
        </p:txBody>
      </p:sp>
      <p:sp>
        <p:nvSpPr>
          <p:cNvPr id="581381891" name="Shape 22"/>
          <p:cNvSpPr/>
          <p:nvPr/>
        </p:nvSpPr>
        <p:spPr bwMode="auto">
          <a:xfrm>
            <a:off x="5303520" y="3685032"/>
            <a:ext cx="1691640" cy="24688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68801223" name="Text 23"/>
          <p:cNvSpPr/>
          <p:nvPr/>
        </p:nvSpPr>
        <p:spPr bwMode="auto">
          <a:xfrm>
            <a:off x="5349240" y="3685032"/>
            <a:ext cx="1600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level</a:t>
            </a:r>
            <a:endParaRPr lang="en-US" sz="1000"/>
          </a:p>
        </p:txBody>
      </p:sp>
      <p:sp>
        <p:nvSpPr>
          <p:cNvPr id="729046515" name="Shape 24"/>
          <p:cNvSpPr/>
          <p:nvPr/>
        </p:nvSpPr>
        <p:spPr bwMode="auto">
          <a:xfrm>
            <a:off x="5303520" y="3931920"/>
            <a:ext cx="1691640" cy="24688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616118" name="Text 25"/>
          <p:cNvSpPr/>
          <p:nvPr/>
        </p:nvSpPr>
        <p:spPr bwMode="auto">
          <a:xfrm>
            <a:off x="5349240" y="3931920"/>
            <a:ext cx="1600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color</a:t>
            </a:r>
            <a:endParaRPr lang="en-US" sz="1000"/>
          </a:p>
        </p:txBody>
      </p:sp>
      <p:sp>
        <p:nvSpPr>
          <p:cNvPr id="922216872" name="Shape 26"/>
          <p:cNvSpPr/>
          <p:nvPr/>
        </p:nvSpPr>
        <p:spPr bwMode="auto">
          <a:xfrm>
            <a:off x="7132320" y="1051560"/>
            <a:ext cx="1691640" cy="292608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723778132" name="Text 27"/>
          <p:cNvSpPr/>
          <p:nvPr/>
        </p:nvSpPr>
        <p:spPr bwMode="auto">
          <a:xfrm>
            <a:off x="7132320" y="1051560"/>
            <a:ext cx="1691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categories</a:t>
            </a:r>
            <a:endParaRPr lang="en-US" sz="1100"/>
          </a:p>
        </p:txBody>
      </p:sp>
      <p:sp>
        <p:nvSpPr>
          <p:cNvPr id="712813246" name="Shape 28"/>
          <p:cNvSpPr/>
          <p:nvPr/>
        </p:nvSpPr>
        <p:spPr bwMode="auto">
          <a:xfrm>
            <a:off x="7132320" y="1344168"/>
            <a:ext cx="1691640" cy="24688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39868410" name="Text 29"/>
          <p:cNvSpPr/>
          <p:nvPr/>
        </p:nvSpPr>
        <p:spPr bwMode="auto">
          <a:xfrm>
            <a:off x="7178039" y="1344168"/>
            <a:ext cx="1600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id PK</a:t>
            </a:r>
            <a:endParaRPr lang="en-US" sz="1000"/>
          </a:p>
        </p:txBody>
      </p:sp>
      <p:sp>
        <p:nvSpPr>
          <p:cNvPr id="1415783304" name="Shape 30"/>
          <p:cNvSpPr/>
          <p:nvPr/>
        </p:nvSpPr>
        <p:spPr bwMode="auto">
          <a:xfrm>
            <a:off x="7132320" y="1591056"/>
            <a:ext cx="1691640" cy="24688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03059162" name="Text 31"/>
          <p:cNvSpPr/>
          <p:nvPr/>
        </p:nvSpPr>
        <p:spPr bwMode="auto">
          <a:xfrm>
            <a:off x="7178039" y="1591056"/>
            <a:ext cx="1600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name</a:t>
            </a:r>
            <a:endParaRPr lang="en-US" sz="1000"/>
          </a:p>
        </p:txBody>
      </p:sp>
      <p:sp>
        <p:nvSpPr>
          <p:cNvPr id="1111359567" name="Shape 32"/>
          <p:cNvSpPr/>
          <p:nvPr/>
        </p:nvSpPr>
        <p:spPr bwMode="auto">
          <a:xfrm>
            <a:off x="7132320" y="1837944"/>
            <a:ext cx="1691640" cy="24688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81032867" name="Text 33"/>
          <p:cNvSpPr/>
          <p:nvPr/>
        </p:nvSpPr>
        <p:spPr bwMode="auto">
          <a:xfrm>
            <a:off x="7178039" y="1837944"/>
            <a:ext cx="1600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color</a:t>
            </a:r>
            <a:endParaRPr lang="en-US" sz="1000"/>
          </a:p>
        </p:txBody>
      </p:sp>
      <p:sp>
        <p:nvSpPr>
          <p:cNvPr id="1326162463" name="Shape 34"/>
          <p:cNvSpPr/>
          <p:nvPr/>
        </p:nvSpPr>
        <p:spPr bwMode="auto">
          <a:xfrm>
            <a:off x="365760" y="3474720"/>
            <a:ext cx="4572000" cy="2926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39813601" name="Text 35"/>
          <p:cNvSpPr/>
          <p:nvPr/>
        </p:nvSpPr>
        <p:spPr bwMode="auto">
          <a:xfrm>
            <a:off x="365760" y="347472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tasks</a:t>
            </a:r>
            <a:endParaRPr lang="en-US" sz="1200"/>
          </a:p>
        </p:txBody>
      </p:sp>
      <p:sp>
        <p:nvSpPr>
          <p:cNvPr id="1559169973" name="Shape 36"/>
          <p:cNvSpPr/>
          <p:nvPr/>
        </p:nvSpPr>
        <p:spPr bwMode="auto">
          <a:xfrm>
            <a:off x="365760" y="3767328"/>
            <a:ext cx="1508759" cy="24688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34680465" name="Text 37"/>
          <p:cNvSpPr/>
          <p:nvPr/>
        </p:nvSpPr>
        <p:spPr bwMode="auto">
          <a:xfrm>
            <a:off x="411480" y="3767328"/>
            <a:ext cx="1463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id PK</a:t>
            </a:r>
            <a:endParaRPr lang="en-US" sz="950"/>
          </a:p>
        </p:txBody>
      </p:sp>
      <p:sp>
        <p:nvSpPr>
          <p:cNvPr id="2004124385" name="Shape 38"/>
          <p:cNvSpPr/>
          <p:nvPr/>
        </p:nvSpPr>
        <p:spPr bwMode="auto">
          <a:xfrm>
            <a:off x="1892808" y="3767328"/>
            <a:ext cx="1508759" cy="24688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13164703" name="Text 39"/>
          <p:cNvSpPr/>
          <p:nvPr/>
        </p:nvSpPr>
        <p:spPr bwMode="auto">
          <a:xfrm>
            <a:off x="1938528" y="3767328"/>
            <a:ext cx="1463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title</a:t>
            </a:r>
            <a:endParaRPr lang="en-US" sz="950"/>
          </a:p>
        </p:txBody>
      </p:sp>
      <p:sp>
        <p:nvSpPr>
          <p:cNvPr id="2043290007" name="Shape 40"/>
          <p:cNvSpPr/>
          <p:nvPr/>
        </p:nvSpPr>
        <p:spPr bwMode="auto">
          <a:xfrm>
            <a:off x="3419856" y="3767328"/>
            <a:ext cx="1508759" cy="24688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96004666" name="Text 41"/>
          <p:cNvSpPr/>
          <p:nvPr/>
        </p:nvSpPr>
        <p:spPr bwMode="auto">
          <a:xfrm>
            <a:off x="3465576" y="3767328"/>
            <a:ext cx="1463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description</a:t>
            </a:r>
            <a:endParaRPr lang="en-US" sz="950"/>
          </a:p>
        </p:txBody>
      </p:sp>
      <p:sp>
        <p:nvSpPr>
          <p:cNvPr id="2107216448" name="Shape 42"/>
          <p:cNvSpPr/>
          <p:nvPr/>
        </p:nvSpPr>
        <p:spPr bwMode="auto">
          <a:xfrm>
            <a:off x="365760" y="4014216"/>
            <a:ext cx="1508759" cy="246888"/>
          </a:xfrm>
          <a:prstGeom prst="rect">
            <a:avLst/>
          </a:prstGeom>
          <a:solidFill>
            <a:srgbClr val="FEF3C7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66160467" name="Text 43"/>
          <p:cNvSpPr/>
          <p:nvPr/>
        </p:nvSpPr>
        <p:spPr bwMode="auto">
          <a:xfrm>
            <a:off x="411480" y="4014216"/>
            <a:ext cx="1463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50" b="1">
                <a:solidFill>
                  <a:srgbClr val="92400E"/>
                </a:solidFill>
                <a:latin typeface="Calibri"/>
                <a:ea typeface="Calibri"/>
                <a:cs typeface="Calibri"/>
              </a:rPr>
              <a:t>priority_id FK</a:t>
            </a:r>
            <a:endParaRPr lang="en-US" sz="950"/>
          </a:p>
        </p:txBody>
      </p:sp>
      <p:sp>
        <p:nvSpPr>
          <p:cNvPr id="1833648756" name="Shape 44"/>
          <p:cNvSpPr/>
          <p:nvPr/>
        </p:nvSpPr>
        <p:spPr bwMode="auto">
          <a:xfrm>
            <a:off x="1892808" y="4014216"/>
            <a:ext cx="1508759" cy="246888"/>
          </a:xfrm>
          <a:prstGeom prst="rect">
            <a:avLst/>
          </a:prstGeom>
          <a:solidFill>
            <a:srgbClr val="FEF3C7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68145389" name="Text 45"/>
          <p:cNvSpPr/>
          <p:nvPr/>
        </p:nvSpPr>
        <p:spPr bwMode="auto">
          <a:xfrm>
            <a:off x="1938528" y="4014216"/>
            <a:ext cx="1463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50" b="1">
                <a:solidFill>
                  <a:srgbClr val="92400E"/>
                </a:solidFill>
                <a:latin typeface="Calibri"/>
                <a:ea typeface="Calibri"/>
                <a:cs typeface="Calibri"/>
              </a:rPr>
              <a:t>status_id FK</a:t>
            </a:r>
            <a:endParaRPr lang="en-US" sz="950"/>
          </a:p>
        </p:txBody>
      </p:sp>
      <p:sp>
        <p:nvSpPr>
          <p:cNvPr id="548540729" name="Shape 46"/>
          <p:cNvSpPr/>
          <p:nvPr/>
        </p:nvSpPr>
        <p:spPr bwMode="auto">
          <a:xfrm>
            <a:off x="3419856" y="4014216"/>
            <a:ext cx="1508759" cy="246888"/>
          </a:xfrm>
          <a:prstGeom prst="rect">
            <a:avLst/>
          </a:prstGeom>
          <a:solidFill>
            <a:srgbClr val="FEF3C7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97476861" name="Text 47"/>
          <p:cNvSpPr/>
          <p:nvPr/>
        </p:nvSpPr>
        <p:spPr bwMode="auto">
          <a:xfrm>
            <a:off x="3465576" y="4014216"/>
            <a:ext cx="1463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50" b="1">
                <a:solidFill>
                  <a:srgbClr val="92400E"/>
                </a:solidFill>
                <a:latin typeface="Calibri"/>
                <a:ea typeface="Calibri"/>
                <a:cs typeface="Calibri"/>
              </a:rPr>
              <a:t>category_id FK</a:t>
            </a:r>
            <a:endParaRPr lang="en-US" sz="950"/>
          </a:p>
        </p:txBody>
      </p:sp>
      <p:sp>
        <p:nvSpPr>
          <p:cNvPr id="656458168" name="Shape 48"/>
          <p:cNvSpPr/>
          <p:nvPr/>
        </p:nvSpPr>
        <p:spPr bwMode="auto">
          <a:xfrm>
            <a:off x="365760" y="4261104"/>
            <a:ext cx="1508759" cy="24688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50667873" name="Text 49"/>
          <p:cNvSpPr/>
          <p:nvPr/>
        </p:nvSpPr>
        <p:spPr bwMode="auto">
          <a:xfrm>
            <a:off x="411480" y="4261104"/>
            <a:ext cx="1463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due_date</a:t>
            </a:r>
            <a:endParaRPr lang="en-US" sz="950"/>
          </a:p>
        </p:txBody>
      </p:sp>
      <p:sp>
        <p:nvSpPr>
          <p:cNvPr id="564046699" name="Shape 50"/>
          <p:cNvSpPr/>
          <p:nvPr/>
        </p:nvSpPr>
        <p:spPr bwMode="auto">
          <a:xfrm>
            <a:off x="1892808" y="4261104"/>
            <a:ext cx="1508759" cy="24688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51731457" name="Text 51"/>
          <p:cNvSpPr/>
          <p:nvPr/>
        </p:nvSpPr>
        <p:spPr bwMode="auto">
          <a:xfrm>
            <a:off x="1938528" y="4261104"/>
            <a:ext cx="1463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estimated_minutes</a:t>
            </a:r>
            <a:endParaRPr lang="en-US" sz="950"/>
          </a:p>
        </p:txBody>
      </p:sp>
      <p:sp>
        <p:nvSpPr>
          <p:cNvPr id="156190056" name="Shape 52"/>
          <p:cNvSpPr/>
          <p:nvPr/>
        </p:nvSpPr>
        <p:spPr bwMode="auto">
          <a:xfrm>
            <a:off x="3419856" y="4261104"/>
            <a:ext cx="1508759" cy="24688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675470" name="Text 53"/>
          <p:cNvSpPr/>
          <p:nvPr/>
        </p:nvSpPr>
        <p:spPr bwMode="auto">
          <a:xfrm>
            <a:off x="3465576" y="4261104"/>
            <a:ext cx="1463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5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created_at</a:t>
            </a:r>
            <a:endParaRPr lang="en-US" sz="9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6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514002" name="Shape 0"/>
          <p:cNvSpPr/>
          <p:nvPr/>
        </p:nvSpPr>
        <p:spPr bwMode="auto"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1207346" name="Text 1"/>
          <p:cNvSpPr/>
          <p:nvPr/>
        </p:nvSpPr>
        <p:spPr bwMode="auto">
          <a:xfrm>
            <a:off x="365760" y="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REST API та шар доступу до даних</a:t>
            </a:r>
            <a:endParaRPr lang="en-US" sz="2600"/>
          </a:p>
        </p:txBody>
      </p:sp>
      <p:sp>
        <p:nvSpPr>
          <p:cNvPr id="169934496" name="Text 2"/>
          <p:cNvSpPr/>
          <p:nvPr/>
        </p:nvSpPr>
        <p:spPr bwMode="auto">
          <a:xfrm>
            <a:off x="365760" y="109728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11 ендпоінтів API:</a:t>
            </a:r>
            <a:endParaRPr lang="en-US" sz="1300"/>
          </a:p>
        </p:txBody>
      </p:sp>
      <p:sp>
        <p:nvSpPr>
          <p:cNvPr id="793308373" name="Shape 3"/>
          <p:cNvSpPr/>
          <p:nvPr/>
        </p:nvSpPr>
        <p:spPr bwMode="auto">
          <a:xfrm>
            <a:off x="365760" y="1463040"/>
            <a:ext cx="685800" cy="3017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55006347" name="Text 4"/>
          <p:cNvSpPr/>
          <p:nvPr/>
        </p:nvSpPr>
        <p:spPr bwMode="auto">
          <a:xfrm>
            <a:off x="365760" y="1463040"/>
            <a:ext cx="6858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GET</a:t>
            </a:r>
            <a:endParaRPr lang="en-US" sz="900"/>
          </a:p>
        </p:txBody>
      </p:sp>
      <p:sp>
        <p:nvSpPr>
          <p:cNvPr id="985545558" name="Text 5"/>
          <p:cNvSpPr/>
          <p:nvPr/>
        </p:nvSpPr>
        <p:spPr bwMode="auto">
          <a:xfrm>
            <a:off x="1097280" y="1463040"/>
            <a:ext cx="18288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/api/tasks</a:t>
            </a:r>
            <a:endParaRPr lang="en-US" sz="1000"/>
          </a:p>
        </p:txBody>
      </p:sp>
      <p:sp>
        <p:nvSpPr>
          <p:cNvPr id="486186689" name="Text 6"/>
          <p:cNvSpPr/>
          <p:nvPr/>
        </p:nvSpPr>
        <p:spPr bwMode="auto">
          <a:xfrm>
            <a:off x="2971800" y="1463040"/>
            <a:ext cx="1371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8DA0B3"/>
                </a:solidFill>
                <a:latin typeface="Calibri"/>
                <a:ea typeface="Calibri"/>
                <a:cs typeface="Calibri"/>
              </a:rPr>
              <a:t>JOIN з 3 довідниками</a:t>
            </a:r>
            <a:endParaRPr lang="en-US" sz="1000"/>
          </a:p>
        </p:txBody>
      </p:sp>
      <p:sp>
        <p:nvSpPr>
          <p:cNvPr id="1297266458" name="Shape 7"/>
          <p:cNvSpPr/>
          <p:nvPr/>
        </p:nvSpPr>
        <p:spPr bwMode="auto">
          <a:xfrm>
            <a:off x="365760" y="1847088"/>
            <a:ext cx="685800" cy="3017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67864652" name="Text 8"/>
          <p:cNvSpPr/>
          <p:nvPr/>
        </p:nvSpPr>
        <p:spPr bwMode="auto">
          <a:xfrm>
            <a:off x="365760" y="1847088"/>
            <a:ext cx="6858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POST</a:t>
            </a:r>
            <a:endParaRPr lang="en-US" sz="900"/>
          </a:p>
        </p:txBody>
      </p:sp>
      <p:sp>
        <p:nvSpPr>
          <p:cNvPr id="1654717848" name="Text 9"/>
          <p:cNvSpPr/>
          <p:nvPr/>
        </p:nvSpPr>
        <p:spPr bwMode="auto">
          <a:xfrm>
            <a:off x="1097280" y="1847088"/>
            <a:ext cx="18288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/api/tasks</a:t>
            </a:r>
            <a:endParaRPr lang="en-US" sz="1000"/>
          </a:p>
        </p:txBody>
      </p:sp>
      <p:sp>
        <p:nvSpPr>
          <p:cNvPr id="1086156631" name="Text 10"/>
          <p:cNvSpPr/>
          <p:nvPr/>
        </p:nvSpPr>
        <p:spPr bwMode="auto">
          <a:xfrm>
            <a:off x="2971800" y="1847088"/>
            <a:ext cx="1371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8DA0B3"/>
                </a:solidFill>
                <a:latin typeface="Calibri"/>
                <a:ea typeface="Calibri"/>
                <a:cs typeface="Calibri"/>
              </a:rPr>
              <a:t>Створення</a:t>
            </a:r>
            <a:endParaRPr lang="en-US" sz="1000"/>
          </a:p>
        </p:txBody>
      </p:sp>
      <p:sp>
        <p:nvSpPr>
          <p:cNvPr id="166860313" name="Shape 11"/>
          <p:cNvSpPr/>
          <p:nvPr/>
        </p:nvSpPr>
        <p:spPr bwMode="auto">
          <a:xfrm>
            <a:off x="365760" y="2231136"/>
            <a:ext cx="685800" cy="3017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70738348" name="Text 12"/>
          <p:cNvSpPr/>
          <p:nvPr/>
        </p:nvSpPr>
        <p:spPr bwMode="auto">
          <a:xfrm>
            <a:off x="365760" y="2231136"/>
            <a:ext cx="6858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PUT</a:t>
            </a:r>
            <a:endParaRPr lang="en-US" sz="900"/>
          </a:p>
        </p:txBody>
      </p:sp>
      <p:sp>
        <p:nvSpPr>
          <p:cNvPr id="61890639" name="Text 13"/>
          <p:cNvSpPr/>
          <p:nvPr/>
        </p:nvSpPr>
        <p:spPr bwMode="auto">
          <a:xfrm>
            <a:off x="1097280" y="2231136"/>
            <a:ext cx="18288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/api/tasks/:id</a:t>
            </a:r>
            <a:endParaRPr lang="en-US" sz="1000"/>
          </a:p>
        </p:txBody>
      </p:sp>
      <p:sp>
        <p:nvSpPr>
          <p:cNvPr id="696238440" name="Text 14"/>
          <p:cNvSpPr/>
          <p:nvPr/>
        </p:nvSpPr>
        <p:spPr bwMode="auto">
          <a:xfrm>
            <a:off x="2971800" y="2231136"/>
            <a:ext cx="1371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8DA0B3"/>
                </a:solidFill>
                <a:latin typeface="Calibri"/>
                <a:ea typeface="Calibri"/>
                <a:cs typeface="Calibri"/>
              </a:rPr>
              <a:t>Оновлення</a:t>
            </a:r>
            <a:endParaRPr lang="en-US" sz="1000"/>
          </a:p>
        </p:txBody>
      </p:sp>
      <p:sp>
        <p:nvSpPr>
          <p:cNvPr id="1630459130" name="Shape 15"/>
          <p:cNvSpPr/>
          <p:nvPr/>
        </p:nvSpPr>
        <p:spPr bwMode="auto">
          <a:xfrm>
            <a:off x="365760" y="2615184"/>
            <a:ext cx="685800" cy="30175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768879474" name="Text 16"/>
          <p:cNvSpPr/>
          <p:nvPr/>
        </p:nvSpPr>
        <p:spPr bwMode="auto">
          <a:xfrm>
            <a:off x="365760" y="2615184"/>
            <a:ext cx="6858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DELETE</a:t>
            </a:r>
            <a:endParaRPr lang="en-US" sz="900"/>
          </a:p>
        </p:txBody>
      </p:sp>
      <p:sp>
        <p:nvSpPr>
          <p:cNvPr id="1266628438" name="Text 17"/>
          <p:cNvSpPr/>
          <p:nvPr/>
        </p:nvSpPr>
        <p:spPr bwMode="auto">
          <a:xfrm>
            <a:off x="1097280" y="2615184"/>
            <a:ext cx="18288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/api/tasks/:id</a:t>
            </a:r>
            <a:endParaRPr lang="en-US" sz="1000"/>
          </a:p>
        </p:txBody>
      </p:sp>
      <p:sp>
        <p:nvSpPr>
          <p:cNvPr id="1502497473" name="Text 18"/>
          <p:cNvSpPr/>
          <p:nvPr/>
        </p:nvSpPr>
        <p:spPr bwMode="auto">
          <a:xfrm>
            <a:off x="2971800" y="2615184"/>
            <a:ext cx="1371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8DA0B3"/>
                </a:solidFill>
                <a:latin typeface="Calibri"/>
                <a:ea typeface="Calibri"/>
                <a:cs typeface="Calibri"/>
              </a:rPr>
              <a:t>Видалення</a:t>
            </a:r>
            <a:endParaRPr lang="en-US" sz="1000"/>
          </a:p>
        </p:txBody>
      </p:sp>
      <p:sp>
        <p:nvSpPr>
          <p:cNvPr id="1407530874" name="Shape 19"/>
          <p:cNvSpPr/>
          <p:nvPr/>
        </p:nvSpPr>
        <p:spPr bwMode="auto">
          <a:xfrm>
            <a:off x="365760" y="2999232"/>
            <a:ext cx="685800" cy="3017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29547357" name="Text 20"/>
          <p:cNvSpPr/>
          <p:nvPr/>
        </p:nvSpPr>
        <p:spPr bwMode="auto">
          <a:xfrm>
            <a:off x="365760" y="2999232"/>
            <a:ext cx="6858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GET</a:t>
            </a:r>
            <a:endParaRPr lang="en-US" sz="900"/>
          </a:p>
        </p:txBody>
      </p:sp>
      <p:sp>
        <p:nvSpPr>
          <p:cNvPr id="760832373" name="Text 21"/>
          <p:cNvSpPr/>
          <p:nvPr/>
        </p:nvSpPr>
        <p:spPr bwMode="auto">
          <a:xfrm>
            <a:off x="1097280" y="2999232"/>
            <a:ext cx="18288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/api/statuses</a:t>
            </a:r>
            <a:endParaRPr lang="en-US" sz="1000"/>
          </a:p>
        </p:txBody>
      </p:sp>
      <p:sp>
        <p:nvSpPr>
          <p:cNvPr id="1688457423" name="Text 22"/>
          <p:cNvSpPr/>
          <p:nvPr/>
        </p:nvSpPr>
        <p:spPr bwMode="auto">
          <a:xfrm>
            <a:off x="2971800" y="2999232"/>
            <a:ext cx="1371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8DA0B3"/>
                </a:solidFill>
                <a:latin typeface="Calibri"/>
                <a:ea typeface="Calibri"/>
                <a:cs typeface="Calibri"/>
              </a:rPr>
              <a:t>Довідник</a:t>
            </a:r>
            <a:endParaRPr lang="en-US" sz="1000"/>
          </a:p>
        </p:txBody>
      </p:sp>
      <p:sp>
        <p:nvSpPr>
          <p:cNvPr id="1489263042" name="Shape 23"/>
          <p:cNvSpPr/>
          <p:nvPr/>
        </p:nvSpPr>
        <p:spPr bwMode="auto">
          <a:xfrm>
            <a:off x="365760" y="3383280"/>
            <a:ext cx="685800" cy="3017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84343001" name="Text 24"/>
          <p:cNvSpPr/>
          <p:nvPr/>
        </p:nvSpPr>
        <p:spPr bwMode="auto">
          <a:xfrm>
            <a:off x="365760" y="3383280"/>
            <a:ext cx="6858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GET</a:t>
            </a:r>
            <a:endParaRPr lang="en-US" sz="900"/>
          </a:p>
        </p:txBody>
      </p:sp>
      <p:sp>
        <p:nvSpPr>
          <p:cNvPr id="1219752383" name="Text 25"/>
          <p:cNvSpPr/>
          <p:nvPr/>
        </p:nvSpPr>
        <p:spPr bwMode="auto">
          <a:xfrm>
            <a:off x="1097280" y="3383280"/>
            <a:ext cx="18288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/api/priorities</a:t>
            </a:r>
            <a:endParaRPr lang="en-US" sz="1000"/>
          </a:p>
        </p:txBody>
      </p:sp>
      <p:sp>
        <p:nvSpPr>
          <p:cNvPr id="887938283" name="Text 26"/>
          <p:cNvSpPr/>
          <p:nvPr/>
        </p:nvSpPr>
        <p:spPr bwMode="auto">
          <a:xfrm>
            <a:off x="2971800" y="3383280"/>
            <a:ext cx="1371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8DA0B3"/>
                </a:solidFill>
                <a:latin typeface="Calibri"/>
                <a:ea typeface="Calibri"/>
                <a:cs typeface="Calibri"/>
              </a:rPr>
              <a:t>Довідник</a:t>
            </a:r>
            <a:endParaRPr lang="en-US" sz="1000"/>
          </a:p>
        </p:txBody>
      </p:sp>
      <p:sp>
        <p:nvSpPr>
          <p:cNvPr id="147953749" name="Shape 27"/>
          <p:cNvSpPr/>
          <p:nvPr/>
        </p:nvSpPr>
        <p:spPr bwMode="auto">
          <a:xfrm>
            <a:off x="365760" y="3767328"/>
            <a:ext cx="685800" cy="3017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11083561" name="Text 28"/>
          <p:cNvSpPr/>
          <p:nvPr/>
        </p:nvSpPr>
        <p:spPr bwMode="auto">
          <a:xfrm>
            <a:off x="365760" y="3767328"/>
            <a:ext cx="6858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GET</a:t>
            </a:r>
            <a:endParaRPr lang="en-US" sz="900"/>
          </a:p>
        </p:txBody>
      </p:sp>
      <p:sp>
        <p:nvSpPr>
          <p:cNvPr id="523894186" name="Text 29"/>
          <p:cNvSpPr/>
          <p:nvPr/>
        </p:nvSpPr>
        <p:spPr bwMode="auto">
          <a:xfrm>
            <a:off x="1097280" y="3767328"/>
            <a:ext cx="18288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/api/categories</a:t>
            </a:r>
            <a:endParaRPr lang="en-US" sz="1000"/>
          </a:p>
        </p:txBody>
      </p:sp>
      <p:sp>
        <p:nvSpPr>
          <p:cNvPr id="1208175166" name="Text 30"/>
          <p:cNvSpPr/>
          <p:nvPr/>
        </p:nvSpPr>
        <p:spPr bwMode="auto">
          <a:xfrm>
            <a:off x="2971800" y="3767328"/>
            <a:ext cx="1371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8DA0B3"/>
                </a:solidFill>
                <a:latin typeface="Calibri"/>
                <a:ea typeface="Calibri"/>
                <a:cs typeface="Calibri"/>
              </a:rPr>
              <a:t>Довідник</a:t>
            </a:r>
            <a:endParaRPr lang="en-US" sz="1000"/>
          </a:p>
        </p:txBody>
      </p:sp>
      <p:sp>
        <p:nvSpPr>
          <p:cNvPr id="1703339556" name="Text 31"/>
          <p:cNvSpPr/>
          <p:nvPr/>
        </p:nvSpPr>
        <p:spPr bwMode="auto">
          <a:xfrm>
            <a:off x="4754880" y="109728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JOIN-запит (GET /api/tasks):</a:t>
            </a:r>
            <a:endParaRPr lang="en-US" sz="1300"/>
          </a:p>
        </p:txBody>
      </p:sp>
      <p:sp>
        <p:nvSpPr>
          <p:cNvPr id="576682934" name="Shape 32"/>
          <p:cNvSpPr/>
          <p:nvPr/>
        </p:nvSpPr>
        <p:spPr bwMode="auto">
          <a:xfrm>
            <a:off x="4754880" y="1463040"/>
            <a:ext cx="4023360" cy="2286000"/>
          </a:xfrm>
          <a:prstGeom prst="rect">
            <a:avLst/>
          </a:prstGeom>
          <a:solidFill>
            <a:srgbClr val="0D1B2A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54598615" name="Text 33"/>
          <p:cNvSpPr/>
          <p:nvPr/>
        </p:nvSpPr>
        <p:spPr bwMode="auto">
          <a:xfrm>
            <a:off x="4846320" y="1508759"/>
            <a:ext cx="384048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9CDCFE"/>
                </a:solidFill>
                <a:latin typeface="Courier New"/>
                <a:ea typeface="Courier New"/>
                <a:cs typeface="Courier New"/>
              </a:rPr>
              <a:t>SELECT t.*, </a:t>
            </a:r>
            <a:endParaRPr lang="en-US" sz="1000"/>
          </a:p>
        </p:txBody>
      </p:sp>
      <p:sp>
        <p:nvSpPr>
          <p:cNvPr id="282778538" name="Text 34"/>
          <p:cNvSpPr/>
          <p:nvPr/>
        </p:nvSpPr>
        <p:spPr bwMode="auto">
          <a:xfrm>
            <a:off x="4846320" y="1719072"/>
            <a:ext cx="384048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9CDCFE"/>
                </a:solidFill>
                <a:latin typeface="Courier New"/>
                <a:ea typeface="Courier New"/>
                <a:cs typeface="Courier New"/>
              </a:rPr>
              <a:t>  p.label_ua AS priorityLabel,</a:t>
            </a:r>
            <a:endParaRPr lang="en-US" sz="1000"/>
          </a:p>
        </p:txBody>
      </p:sp>
      <p:sp>
        <p:nvSpPr>
          <p:cNvPr id="990606149" name="Text 35"/>
          <p:cNvSpPr/>
          <p:nvPr/>
        </p:nvSpPr>
        <p:spPr bwMode="auto">
          <a:xfrm>
            <a:off x="4846320" y="1929384"/>
            <a:ext cx="384048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9CDCFE"/>
                </a:solidFill>
                <a:latin typeface="Courier New"/>
                <a:ea typeface="Courier New"/>
                <a:cs typeface="Courier New"/>
              </a:rPr>
              <a:t>  p.color    AS priorityColor,</a:t>
            </a:r>
            <a:endParaRPr lang="en-US" sz="1000"/>
          </a:p>
        </p:txBody>
      </p:sp>
      <p:sp>
        <p:nvSpPr>
          <p:cNvPr id="1892189117" name="Text 36"/>
          <p:cNvSpPr/>
          <p:nvPr/>
        </p:nvSpPr>
        <p:spPr bwMode="auto">
          <a:xfrm>
            <a:off x="4846320" y="2139696"/>
            <a:ext cx="384048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9CDCFE"/>
                </a:solidFill>
                <a:latin typeface="Courier New"/>
                <a:ea typeface="Courier New"/>
                <a:cs typeface="Courier New"/>
              </a:rPr>
              <a:t>  s.label_ua AS statusLabel,</a:t>
            </a:r>
            <a:endParaRPr lang="en-US" sz="1000"/>
          </a:p>
        </p:txBody>
      </p:sp>
      <p:sp>
        <p:nvSpPr>
          <p:cNvPr id="1580628210" name="Text 37"/>
          <p:cNvSpPr/>
          <p:nvPr/>
        </p:nvSpPr>
        <p:spPr bwMode="auto">
          <a:xfrm>
            <a:off x="4846320" y="2350008"/>
            <a:ext cx="384048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9CDCFE"/>
                </a:solidFill>
                <a:latin typeface="Courier New"/>
                <a:ea typeface="Courier New"/>
                <a:cs typeface="Courier New"/>
              </a:rPr>
              <a:t>  s.color    AS statusColor,</a:t>
            </a:r>
            <a:endParaRPr lang="en-US" sz="1000"/>
          </a:p>
        </p:txBody>
      </p:sp>
      <p:sp>
        <p:nvSpPr>
          <p:cNvPr id="915672047" name="Text 38"/>
          <p:cNvSpPr/>
          <p:nvPr/>
        </p:nvSpPr>
        <p:spPr bwMode="auto">
          <a:xfrm>
            <a:off x="4846320" y="2560320"/>
            <a:ext cx="384048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9CDCFE"/>
                </a:solidFill>
                <a:latin typeface="Courier New"/>
                <a:ea typeface="Courier New"/>
                <a:cs typeface="Courier New"/>
              </a:rPr>
              <a:t>  c.name     AS categoryName</a:t>
            </a:r>
            <a:endParaRPr lang="en-US" sz="1000"/>
          </a:p>
        </p:txBody>
      </p:sp>
      <p:sp>
        <p:nvSpPr>
          <p:cNvPr id="526566843" name="Text 39"/>
          <p:cNvSpPr/>
          <p:nvPr/>
        </p:nvSpPr>
        <p:spPr bwMode="auto">
          <a:xfrm>
            <a:off x="4846320" y="2770632"/>
            <a:ext cx="384048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06B6D4"/>
                </a:solidFill>
                <a:latin typeface="Courier New"/>
                <a:ea typeface="Courier New"/>
                <a:cs typeface="Courier New"/>
              </a:rPr>
              <a:t>FROM tasks t</a:t>
            </a:r>
            <a:endParaRPr lang="en-US" sz="1000"/>
          </a:p>
        </p:txBody>
      </p:sp>
      <p:sp>
        <p:nvSpPr>
          <p:cNvPr id="1831985824" name="Text 40"/>
          <p:cNvSpPr/>
          <p:nvPr/>
        </p:nvSpPr>
        <p:spPr bwMode="auto">
          <a:xfrm>
            <a:off x="4846320" y="2980944"/>
            <a:ext cx="384048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06B6D4"/>
                </a:solidFill>
                <a:latin typeface="Courier New"/>
                <a:ea typeface="Courier New"/>
                <a:cs typeface="Courier New"/>
              </a:rPr>
              <a:t>LEFT JOIN priorities p ON ...</a:t>
            </a:r>
            <a:endParaRPr lang="en-US" sz="1000"/>
          </a:p>
        </p:txBody>
      </p:sp>
      <p:sp>
        <p:nvSpPr>
          <p:cNvPr id="1737261475" name="Text 41"/>
          <p:cNvSpPr/>
          <p:nvPr/>
        </p:nvSpPr>
        <p:spPr bwMode="auto">
          <a:xfrm>
            <a:off x="4846320" y="3191256"/>
            <a:ext cx="384048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06B6D4"/>
                </a:solidFill>
                <a:latin typeface="Courier New"/>
                <a:ea typeface="Courier New"/>
                <a:cs typeface="Courier New"/>
              </a:rPr>
              <a:t>LEFT JOIN statuses   s ON ...</a:t>
            </a:r>
            <a:endParaRPr lang="en-US" sz="1000"/>
          </a:p>
        </p:txBody>
      </p:sp>
      <p:sp>
        <p:nvSpPr>
          <p:cNvPr id="1296685804" name="Text 42"/>
          <p:cNvSpPr/>
          <p:nvPr/>
        </p:nvSpPr>
        <p:spPr bwMode="auto">
          <a:xfrm>
            <a:off x="4846320" y="3401568"/>
            <a:ext cx="384048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06B6D4"/>
                </a:solidFill>
                <a:latin typeface="Courier New"/>
                <a:ea typeface="Courier New"/>
                <a:cs typeface="Courier New"/>
              </a:rPr>
              <a:t>LEFT JOIN categories c ON ...</a:t>
            </a:r>
            <a:endParaRPr lang="en-US" sz="1000"/>
          </a:p>
        </p:txBody>
      </p:sp>
      <p:sp>
        <p:nvSpPr>
          <p:cNvPr id="1561618010" name="Shape 43"/>
          <p:cNvSpPr/>
          <p:nvPr/>
        </p:nvSpPr>
        <p:spPr bwMode="auto">
          <a:xfrm>
            <a:off x="365760" y="4160519"/>
            <a:ext cx="8412480" cy="594360"/>
          </a:xfrm>
          <a:prstGeom prst="rect">
            <a:avLst/>
          </a:prstGeom>
          <a:solidFill>
            <a:srgbClr val="DCFCE7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58822288" name="Text 44"/>
          <p:cNvSpPr/>
          <p:nvPr/>
        </p:nvSpPr>
        <p:spPr bwMode="auto">
          <a:xfrm>
            <a:off x="548640" y="420624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065F46"/>
                </a:solidFill>
                <a:latin typeface="Calibri"/>
                <a:ea typeface="Calibri"/>
                <a:cs typeface="Calibri"/>
              </a:rPr>
              <a:t>Клієнт отримує priorityLabel, statusLabel, categoryName вже з запиту — без додаткових звернень до API</a:t>
            </a:r>
            <a:endParaRPr lang="en-US" sz="12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7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0068711" name="Shape 0"/>
          <p:cNvSpPr/>
          <p:nvPr/>
        </p:nvSpPr>
        <p:spPr bwMode="auto"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05978291" name="Text 1"/>
          <p:cNvSpPr/>
          <p:nvPr/>
        </p:nvSpPr>
        <p:spPr bwMode="auto">
          <a:xfrm>
            <a:off x="365760" y="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Інтерфейс користувача</a:t>
            </a:r>
            <a:endParaRPr lang="en-US" sz="2600"/>
          </a:p>
        </p:txBody>
      </p:sp>
      <p:sp>
        <p:nvSpPr>
          <p:cNvPr id="691499684" name="Shape 2"/>
          <p:cNvSpPr/>
          <p:nvPr/>
        </p:nvSpPr>
        <p:spPr bwMode="auto">
          <a:xfrm>
            <a:off x="274320" y="1143000"/>
            <a:ext cx="4206240" cy="1737360"/>
          </a:xfrm>
          <a:prstGeom prst="rect">
            <a:avLst/>
          </a:prstGeom>
          <a:solidFill>
            <a:srgbClr val="F0F8F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84839458" name="Shape 3"/>
          <p:cNvSpPr/>
          <p:nvPr/>
        </p:nvSpPr>
        <p:spPr bwMode="auto">
          <a:xfrm>
            <a:off x="274320" y="1143000"/>
            <a:ext cx="4206240" cy="3657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13239202" name="Text 4"/>
          <p:cNvSpPr/>
          <p:nvPr/>
        </p:nvSpPr>
        <p:spPr bwMode="auto">
          <a:xfrm>
            <a:off x="365760" y="114300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📝 TaskForm</a:t>
            </a:r>
            <a:endParaRPr lang="en-US" sz="1300"/>
          </a:p>
        </p:txBody>
      </p:sp>
      <p:sp>
        <p:nvSpPr>
          <p:cNvPr id="1682934521" name="Text 5"/>
          <p:cNvSpPr/>
          <p:nvPr/>
        </p:nvSpPr>
        <p:spPr bwMode="auto">
          <a:xfrm>
            <a:off x="365760" y="1554480"/>
            <a:ext cx="40233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5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Списки з довідників БД</a:t>
            </a:r>
            <a:endParaRPr lang="en-US" sz="1150"/>
          </a:p>
          <a:p>
            <a:pPr marL="0" indent="0">
              <a:buNone/>
              <a:defRPr/>
            </a:pPr>
            <a:r>
              <a:rPr lang="en-US" sz="115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Вибір пріоритету, статусу, категорії</a:t>
            </a:r>
            <a:endParaRPr lang="en-US" sz="1150"/>
          </a:p>
          <a:p>
            <a:pPr marL="0" indent="0">
              <a:buNone/>
              <a:defRPr/>
            </a:pPr>
            <a:r>
              <a:rPr lang="en-US" sz="115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Вибір дати та часу</a:t>
            </a:r>
            <a:endParaRPr lang="en-US" sz="1150"/>
          </a:p>
          <a:p>
            <a:pPr marL="0" indent="0">
              <a:buNone/>
              <a:defRPr/>
            </a:pPr>
            <a:r>
              <a:rPr lang="en-US" sz="115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Валідація + добовий ліміт</a:t>
            </a:r>
            <a:endParaRPr lang="en-US" sz="1150"/>
          </a:p>
        </p:txBody>
      </p:sp>
      <p:sp>
        <p:nvSpPr>
          <p:cNvPr id="1435601202" name="Shape 6"/>
          <p:cNvSpPr/>
          <p:nvPr/>
        </p:nvSpPr>
        <p:spPr bwMode="auto">
          <a:xfrm>
            <a:off x="4709160" y="1143000"/>
            <a:ext cx="4206240" cy="1737360"/>
          </a:xfrm>
          <a:prstGeom prst="rect">
            <a:avLst/>
          </a:prstGeom>
          <a:solidFill>
            <a:srgbClr val="F0F8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117956223" name="Shape 7"/>
          <p:cNvSpPr/>
          <p:nvPr/>
        </p:nvSpPr>
        <p:spPr bwMode="auto">
          <a:xfrm>
            <a:off x="4709160" y="1143000"/>
            <a:ext cx="4206240" cy="3657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13242324" name="Text 8"/>
          <p:cNvSpPr/>
          <p:nvPr/>
        </p:nvSpPr>
        <p:spPr bwMode="auto">
          <a:xfrm>
            <a:off x="4800600" y="114300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📋 TaskList</a:t>
            </a:r>
            <a:endParaRPr lang="en-US" sz="1300"/>
          </a:p>
        </p:txBody>
      </p:sp>
      <p:sp>
        <p:nvSpPr>
          <p:cNvPr id="1082028759" name="Text 9"/>
          <p:cNvSpPr/>
          <p:nvPr/>
        </p:nvSpPr>
        <p:spPr bwMode="auto">
          <a:xfrm>
            <a:off x="4800600" y="1554480"/>
            <a:ext cx="40233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5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Кольорові бейджи з БД</a:t>
            </a:r>
            <a:endParaRPr lang="en-US" sz="1150"/>
          </a:p>
          <a:p>
            <a:pPr marL="0" indent="0">
              <a:buNone/>
              <a:defRPr/>
            </a:pPr>
            <a:r>
              <a:rPr lang="en-US" sz="115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Фільтр: Усі/Активні/Виконані</a:t>
            </a:r>
            <a:endParaRPr lang="en-US" sz="1150"/>
          </a:p>
          <a:p>
            <a:pPr marL="0" indent="0">
              <a:buNone/>
              <a:defRPr/>
            </a:pPr>
            <a:r>
              <a:rPr lang="en-US" sz="115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Сортування: дата/пріоритет/час</a:t>
            </a:r>
            <a:endParaRPr lang="en-US" sz="1150"/>
          </a:p>
          <a:p>
            <a:pPr marL="0" indent="0">
              <a:buNone/>
              <a:defRPr/>
            </a:pPr>
            <a:r>
              <a:rPr lang="en-US" sz="115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Статус через SELECT у рядку</a:t>
            </a:r>
            <a:endParaRPr lang="en-US" sz="1150"/>
          </a:p>
        </p:txBody>
      </p:sp>
      <p:sp>
        <p:nvSpPr>
          <p:cNvPr id="1933141578" name="Shape 10"/>
          <p:cNvSpPr/>
          <p:nvPr/>
        </p:nvSpPr>
        <p:spPr bwMode="auto">
          <a:xfrm>
            <a:off x="274320" y="3063240"/>
            <a:ext cx="4206240" cy="1737360"/>
          </a:xfrm>
          <a:prstGeom prst="rect">
            <a:avLst/>
          </a:prstGeom>
          <a:solidFill>
            <a:srgbClr val="F0F8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16099340" name="Shape 11"/>
          <p:cNvSpPr/>
          <p:nvPr/>
        </p:nvSpPr>
        <p:spPr bwMode="auto">
          <a:xfrm>
            <a:off x="274320" y="3063240"/>
            <a:ext cx="4206240" cy="3657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17616812" name="Text 12"/>
          <p:cNvSpPr/>
          <p:nvPr/>
        </p:nvSpPr>
        <p:spPr bwMode="auto">
          <a:xfrm>
            <a:off x="365760" y="30632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📊 StatsPanel + Charts</a:t>
            </a:r>
            <a:endParaRPr lang="en-US" sz="1300"/>
          </a:p>
        </p:txBody>
      </p:sp>
      <p:sp>
        <p:nvSpPr>
          <p:cNvPr id="476790868" name="Text 13"/>
          <p:cNvSpPr/>
          <p:nvPr/>
        </p:nvSpPr>
        <p:spPr bwMode="auto">
          <a:xfrm>
            <a:off x="365760" y="3474720"/>
            <a:ext cx="40233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5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Статистика з JOIN-даних</a:t>
            </a:r>
            <a:endParaRPr lang="en-US" sz="1150"/>
          </a:p>
          <a:p>
            <a:pPr marL="0" indent="0">
              <a:buNone/>
              <a:defRPr/>
            </a:pPr>
            <a:r>
              <a:rPr lang="en-US" sz="115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Doughnut: розподіл пріоритетів</a:t>
            </a:r>
            <a:endParaRPr lang="en-US" sz="1150"/>
          </a:p>
          <a:p>
            <a:pPr marL="0" indent="0">
              <a:buNone/>
              <a:defRPr/>
            </a:pPr>
            <a:r>
              <a:rPr lang="en-US" sz="115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Bar: розподіл статусів</a:t>
            </a:r>
            <a:endParaRPr lang="en-US" sz="1150"/>
          </a:p>
          <a:p>
            <a:pPr marL="0" indent="0">
              <a:buNone/>
              <a:defRPr/>
            </a:pPr>
            <a:r>
              <a:rPr lang="en-US" sz="115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Кольори з таблиці priorities</a:t>
            </a:r>
            <a:endParaRPr lang="en-US" sz="1150"/>
          </a:p>
        </p:txBody>
      </p:sp>
      <p:sp>
        <p:nvSpPr>
          <p:cNvPr id="314422243" name="Shape 14"/>
          <p:cNvSpPr/>
          <p:nvPr/>
        </p:nvSpPr>
        <p:spPr bwMode="auto">
          <a:xfrm>
            <a:off x="4709160" y="3063240"/>
            <a:ext cx="4206240" cy="1737360"/>
          </a:xfrm>
          <a:prstGeom prst="rect">
            <a:avLst/>
          </a:prstGeom>
          <a:solidFill>
            <a:srgbClr val="F0F8FF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93948365" name="Shape 15"/>
          <p:cNvSpPr/>
          <p:nvPr/>
        </p:nvSpPr>
        <p:spPr bwMode="auto">
          <a:xfrm>
            <a:off x="4709160" y="3063240"/>
            <a:ext cx="4206240" cy="3657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85192005" name="Text 16"/>
          <p:cNvSpPr/>
          <p:nvPr/>
        </p:nvSpPr>
        <p:spPr bwMode="auto">
          <a:xfrm>
            <a:off x="4800600" y="30632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💾 Імпорт / Експорт</a:t>
            </a:r>
            <a:endParaRPr lang="en-US" sz="1300"/>
          </a:p>
        </p:txBody>
      </p:sp>
      <p:sp>
        <p:nvSpPr>
          <p:cNvPr id="344774161" name="Text 17"/>
          <p:cNvSpPr/>
          <p:nvPr/>
        </p:nvSpPr>
        <p:spPr bwMode="auto">
          <a:xfrm>
            <a:off x="4800600" y="3474720"/>
            <a:ext cx="40233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5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Експорт у JSON-файл</a:t>
            </a:r>
            <a:endParaRPr lang="en-US" sz="1150"/>
          </a:p>
          <a:p>
            <a:pPr marL="0" indent="0">
              <a:buNone/>
              <a:defRPr/>
            </a:pPr>
            <a:r>
              <a:rPr lang="en-US" sz="115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Імпорт зі старого формату</a:t>
            </a:r>
            <a:endParaRPr lang="en-US" sz="1150"/>
          </a:p>
          <a:p>
            <a:pPr marL="0" indent="0">
              <a:buNone/>
              <a:defRPr/>
            </a:pPr>
            <a:r>
              <a:rPr lang="en-US" sz="115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Функція mapImportedTask</a:t>
            </a:r>
            <a:endParaRPr lang="en-US" sz="1150"/>
          </a:p>
          <a:p>
            <a:pPr marL="0" indent="0">
              <a:buNone/>
              <a:defRPr/>
            </a:pPr>
            <a:r>
              <a:rPr lang="en-US" sz="115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Виявлення дублікатів</a:t>
            </a:r>
            <a:endParaRPr lang="en-US" sz="11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8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9558934" name="Shape 0"/>
          <p:cNvSpPr/>
          <p:nvPr/>
        </p:nvSpPr>
        <p:spPr bwMode="auto"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87104172" name="Text 1"/>
          <p:cNvSpPr/>
          <p:nvPr/>
        </p:nvSpPr>
        <p:spPr bwMode="auto">
          <a:xfrm>
            <a:off x="365760" y="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Тестування</a:t>
            </a:r>
            <a:endParaRPr lang="en-US" sz="2600"/>
          </a:p>
        </p:txBody>
      </p:sp>
      <p:sp>
        <p:nvSpPr>
          <p:cNvPr id="333033042" name="Shape 2"/>
          <p:cNvSpPr/>
          <p:nvPr/>
        </p:nvSpPr>
        <p:spPr bwMode="auto">
          <a:xfrm>
            <a:off x="365760" y="1097280"/>
            <a:ext cx="1097280" cy="3200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97950301" name="Text 3"/>
          <p:cNvSpPr/>
          <p:nvPr/>
        </p:nvSpPr>
        <p:spPr bwMode="auto">
          <a:xfrm>
            <a:off x="365760" y="109728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БД</a:t>
            </a:r>
            <a:endParaRPr lang="en-US" sz="1100"/>
          </a:p>
        </p:txBody>
      </p:sp>
      <p:sp>
        <p:nvSpPr>
          <p:cNvPr id="2043912975" name="Shape 4"/>
          <p:cNvSpPr/>
          <p:nvPr/>
        </p:nvSpPr>
        <p:spPr bwMode="auto">
          <a:xfrm>
            <a:off x="1554480" y="1097280"/>
            <a:ext cx="731520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87048625" name="Text 5"/>
          <p:cNvSpPr/>
          <p:nvPr/>
        </p:nvSpPr>
        <p:spPr bwMode="auto">
          <a:xfrm>
            <a:off x="1645920" y="1097280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5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✓  ON DELETE RESTRICT блокує видалення статусу/пріоритету що використовується</a:t>
            </a:r>
            <a:endParaRPr lang="en-US" sz="1150"/>
          </a:p>
        </p:txBody>
      </p:sp>
      <p:sp>
        <p:nvSpPr>
          <p:cNvPr id="983395237" name="Shape 6"/>
          <p:cNvSpPr/>
          <p:nvPr/>
        </p:nvSpPr>
        <p:spPr bwMode="auto">
          <a:xfrm>
            <a:off x="1554480" y="1444752"/>
            <a:ext cx="731520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33155307" name="Text 7"/>
          <p:cNvSpPr/>
          <p:nvPr/>
        </p:nvSpPr>
        <p:spPr bwMode="auto">
          <a:xfrm>
            <a:off x="1645920" y="1444752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5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✓  ON DELETE SET NULL коректно обнуляє category_id</a:t>
            </a:r>
            <a:endParaRPr lang="en-US" sz="1150"/>
          </a:p>
        </p:txBody>
      </p:sp>
      <p:sp>
        <p:nvSpPr>
          <p:cNvPr id="1975531820" name="Shape 8"/>
          <p:cNvSpPr/>
          <p:nvPr/>
        </p:nvSpPr>
        <p:spPr bwMode="auto">
          <a:xfrm>
            <a:off x="1554480" y="1792224"/>
            <a:ext cx="731520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02520720" name="Text 9"/>
          <p:cNvSpPr/>
          <p:nvPr/>
        </p:nvSpPr>
        <p:spPr bwMode="auto">
          <a:xfrm>
            <a:off x="1645920" y="1792224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5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✓  Seed-дані вносяться автоматично при першому запуску</a:t>
            </a:r>
            <a:endParaRPr lang="en-US" sz="1150"/>
          </a:p>
        </p:txBody>
      </p:sp>
      <p:sp>
        <p:nvSpPr>
          <p:cNvPr id="241799773" name="Shape 10"/>
          <p:cNvSpPr/>
          <p:nvPr/>
        </p:nvSpPr>
        <p:spPr bwMode="auto">
          <a:xfrm>
            <a:off x="365760" y="2505456"/>
            <a:ext cx="1097280" cy="3200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24496229" name="Text 11"/>
          <p:cNvSpPr/>
          <p:nvPr/>
        </p:nvSpPr>
        <p:spPr bwMode="auto">
          <a:xfrm>
            <a:off x="365760" y="2505456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REST API</a:t>
            </a:r>
            <a:endParaRPr lang="en-US" sz="1100"/>
          </a:p>
        </p:txBody>
      </p:sp>
      <p:sp>
        <p:nvSpPr>
          <p:cNvPr id="384393200" name="Shape 12"/>
          <p:cNvSpPr/>
          <p:nvPr/>
        </p:nvSpPr>
        <p:spPr bwMode="auto">
          <a:xfrm>
            <a:off x="1554480" y="2505456"/>
            <a:ext cx="731520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44873089" name="Text 13"/>
          <p:cNvSpPr/>
          <p:nvPr/>
        </p:nvSpPr>
        <p:spPr bwMode="auto">
          <a:xfrm>
            <a:off x="1645920" y="2505456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5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✓  GET /api/tasks повертає JOIN-поля (priorityLabel, statusLabel)</a:t>
            </a:r>
            <a:endParaRPr lang="en-US" sz="1150"/>
          </a:p>
        </p:txBody>
      </p:sp>
      <p:sp>
        <p:nvSpPr>
          <p:cNvPr id="1964306769" name="Shape 14"/>
          <p:cNvSpPr/>
          <p:nvPr/>
        </p:nvSpPr>
        <p:spPr bwMode="auto">
          <a:xfrm>
            <a:off x="1554480" y="2852928"/>
            <a:ext cx="731520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32389821" name="Text 15"/>
          <p:cNvSpPr/>
          <p:nvPr/>
        </p:nvSpPr>
        <p:spPr bwMode="auto">
          <a:xfrm>
            <a:off x="1645920" y="2852928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5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✓  POST/PUT/DELETE коректно оновлюють БД</a:t>
            </a:r>
            <a:endParaRPr lang="en-US" sz="1150"/>
          </a:p>
        </p:txBody>
      </p:sp>
      <p:sp>
        <p:nvSpPr>
          <p:cNvPr id="327500436" name="Shape 16"/>
          <p:cNvSpPr/>
          <p:nvPr/>
        </p:nvSpPr>
        <p:spPr bwMode="auto">
          <a:xfrm>
            <a:off x="1554480" y="3200400"/>
            <a:ext cx="731520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8765436" name="Text 17"/>
          <p:cNvSpPr/>
          <p:nvPr/>
        </p:nvSpPr>
        <p:spPr bwMode="auto">
          <a:xfrm>
            <a:off x="1645920" y="3200400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5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✓  Ендпоінти довідників повертають актуальні дані</a:t>
            </a:r>
            <a:endParaRPr lang="en-US" sz="1150"/>
          </a:p>
        </p:txBody>
      </p:sp>
      <p:sp>
        <p:nvSpPr>
          <p:cNvPr id="28984438" name="Shape 18"/>
          <p:cNvSpPr/>
          <p:nvPr/>
        </p:nvSpPr>
        <p:spPr bwMode="auto">
          <a:xfrm>
            <a:off x="365760" y="3705296"/>
            <a:ext cx="1097280" cy="3200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74689149" name="Text 19"/>
          <p:cNvSpPr/>
          <p:nvPr/>
        </p:nvSpPr>
        <p:spPr bwMode="auto">
          <a:xfrm>
            <a:off x="365760" y="3705296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Інтерфейс</a:t>
            </a:r>
            <a:endParaRPr lang="en-US" sz="1100"/>
          </a:p>
        </p:txBody>
      </p:sp>
      <p:sp>
        <p:nvSpPr>
          <p:cNvPr id="1154595157" name="Shape 20"/>
          <p:cNvSpPr/>
          <p:nvPr/>
        </p:nvSpPr>
        <p:spPr bwMode="auto">
          <a:xfrm flipH="0" flipV="0">
            <a:off x="1554480" y="3705296"/>
            <a:ext cx="731520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1333481292" name="Text 21"/>
          <p:cNvSpPr/>
          <p:nvPr/>
        </p:nvSpPr>
        <p:spPr bwMode="auto">
          <a:xfrm flipH="0" flipV="0">
            <a:off x="234618" y="2112264"/>
            <a:ext cx="47254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endParaRPr lang="en-US" sz="1150"/>
          </a:p>
        </p:txBody>
      </p:sp>
      <p:sp>
        <p:nvSpPr>
          <p:cNvPr id="1103171554" name="Shape 22"/>
          <p:cNvSpPr/>
          <p:nvPr/>
        </p:nvSpPr>
        <p:spPr bwMode="auto">
          <a:xfrm>
            <a:off x="1554480" y="4073652"/>
            <a:ext cx="731520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2005371423" name="Text 23"/>
          <p:cNvSpPr/>
          <p:nvPr/>
        </p:nvSpPr>
        <p:spPr bwMode="auto">
          <a:xfrm flipH="0" flipV="0">
            <a:off x="1645920" y="4101084"/>
            <a:ext cx="41388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5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✓  ⚠️ Жовте попередження при &gt;12 год, ❌ червоне при &gt;24 год</a:t>
            </a:r>
            <a:endParaRPr lang="en-US" sz="1150"/>
          </a:p>
        </p:txBody>
      </p:sp>
      <p:sp>
        <p:nvSpPr>
          <p:cNvPr id="440751546" name="Shape 24"/>
          <p:cNvSpPr/>
          <p:nvPr/>
        </p:nvSpPr>
        <p:spPr bwMode="auto">
          <a:xfrm>
            <a:off x="1554480" y="4421124"/>
            <a:ext cx="731520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67288233" name="Text 25"/>
          <p:cNvSpPr/>
          <p:nvPr/>
        </p:nvSpPr>
        <p:spPr bwMode="auto">
          <a:xfrm flipH="0" flipV="0">
            <a:off x="1645920" y="4421124"/>
            <a:ext cx="347471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5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✓  Кольорові бейджи відповідають кольорам з БД</a:t>
            </a:r>
            <a:endParaRPr lang="en-US" sz="1150"/>
          </a:p>
        </p:txBody>
      </p:sp>
      <p:sp>
        <p:nvSpPr>
          <p:cNvPr id="1771381499" name="Text 27"/>
          <p:cNvSpPr/>
          <p:nvPr/>
        </p:nvSpPr>
        <p:spPr bwMode="auto">
          <a:xfrm flipH="0" flipV="0">
            <a:off x="1554480" y="3705296"/>
            <a:ext cx="3945547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5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✓  Фільтрація за statusId, сортування за priorityLevel</a:t>
            </a:r>
            <a:endParaRPr lang="en-US" sz="11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9">
    <p:bg>
      <p:bgPr shadeToTitle="0">
        <a:solidFill>
          <a:srgbClr val="0D1B2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4993479" name="Shape 0"/>
          <p:cNvSpPr/>
          <p:nvPr/>
        </p:nvSpPr>
        <p:spPr bwMode="auto">
          <a:xfrm>
            <a:off x="0" y="0"/>
            <a:ext cx="9144000" cy="10058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51779277" name="Text 1"/>
          <p:cNvSpPr/>
          <p:nvPr/>
        </p:nvSpPr>
        <p:spPr bwMode="auto">
          <a:xfrm>
            <a:off x="365760" y="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3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Висновки</a:t>
            </a:r>
            <a:endParaRPr lang="en-US" sz="3000"/>
          </a:p>
        </p:txBody>
      </p:sp>
      <p:sp>
        <p:nvSpPr>
          <p:cNvPr id="875206701" name="Shape 2"/>
          <p:cNvSpPr/>
          <p:nvPr/>
        </p:nvSpPr>
        <p:spPr bwMode="auto">
          <a:xfrm>
            <a:off x="320040" y="1188720"/>
            <a:ext cx="502920" cy="5029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07122189" name="Text 3"/>
          <p:cNvSpPr/>
          <p:nvPr/>
        </p:nvSpPr>
        <p:spPr bwMode="auto">
          <a:xfrm>
            <a:off x="320040" y="1188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01</a:t>
            </a:r>
            <a:endParaRPr lang="en-US" sz="1300"/>
          </a:p>
        </p:txBody>
      </p:sp>
      <p:sp>
        <p:nvSpPr>
          <p:cNvPr id="1264694414" name="Text 4"/>
          <p:cNvSpPr/>
          <p:nvPr/>
        </p:nvSpPr>
        <p:spPr bwMode="auto">
          <a:xfrm>
            <a:off x="960120" y="1207008"/>
            <a:ext cx="7772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Реалізовано нормалізовану реляційну БД SQLite: 4 таблиці, 3 зовнішні ключі (RESTRICT / SET NULL)</a:t>
            </a:r>
            <a:endParaRPr lang="en-US" sz="1300"/>
          </a:p>
        </p:txBody>
      </p:sp>
      <p:sp>
        <p:nvSpPr>
          <p:cNvPr id="1153036772" name="Shape 5"/>
          <p:cNvSpPr/>
          <p:nvPr/>
        </p:nvSpPr>
        <p:spPr bwMode="auto">
          <a:xfrm>
            <a:off x="320040" y="1947671"/>
            <a:ext cx="502920" cy="5029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629376196" name="Text 6"/>
          <p:cNvSpPr/>
          <p:nvPr/>
        </p:nvSpPr>
        <p:spPr bwMode="auto">
          <a:xfrm>
            <a:off x="320040" y="1947671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02</a:t>
            </a:r>
            <a:endParaRPr lang="en-US" sz="1300"/>
          </a:p>
        </p:txBody>
      </p:sp>
      <p:sp>
        <p:nvSpPr>
          <p:cNvPr id="1277433414" name="Text 7"/>
          <p:cNvSpPr/>
          <p:nvPr/>
        </p:nvSpPr>
        <p:spPr bwMode="auto">
          <a:xfrm>
            <a:off x="960120" y="1965960"/>
            <a:ext cx="7772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Локальний REST API (11 ендпоінтів) з JOIN-запитами — клієнт отримує повні дані в одному запиті</a:t>
            </a:r>
            <a:endParaRPr lang="en-US" sz="1300"/>
          </a:p>
        </p:txBody>
      </p:sp>
      <p:sp>
        <p:nvSpPr>
          <p:cNvPr id="103301247" name="Shape 8"/>
          <p:cNvSpPr/>
          <p:nvPr/>
        </p:nvSpPr>
        <p:spPr bwMode="auto">
          <a:xfrm>
            <a:off x="320040" y="2706624"/>
            <a:ext cx="502920" cy="5029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63204207" name="Text 9"/>
          <p:cNvSpPr/>
          <p:nvPr/>
        </p:nvSpPr>
        <p:spPr bwMode="auto">
          <a:xfrm>
            <a:off x="320040" y="270662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03</a:t>
            </a:r>
            <a:endParaRPr lang="en-US" sz="1300"/>
          </a:p>
        </p:txBody>
      </p:sp>
      <p:sp>
        <p:nvSpPr>
          <p:cNvPr id="816686472" name="Text 10"/>
          <p:cNvSpPr/>
          <p:nvPr/>
        </p:nvSpPr>
        <p:spPr bwMode="auto">
          <a:xfrm>
            <a:off x="960120" y="2724911"/>
            <a:ext cx="7772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Статус задачі тепер має 3 значення замість булевого — реалістичний життєвий цикл завдань</a:t>
            </a:r>
            <a:endParaRPr lang="en-US" sz="1300"/>
          </a:p>
        </p:txBody>
      </p:sp>
      <p:sp>
        <p:nvSpPr>
          <p:cNvPr id="1522416414" name="Shape 11"/>
          <p:cNvSpPr/>
          <p:nvPr/>
        </p:nvSpPr>
        <p:spPr bwMode="auto">
          <a:xfrm>
            <a:off x="320040" y="3465576"/>
            <a:ext cx="502920" cy="5029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78657829" name="Text 12"/>
          <p:cNvSpPr/>
          <p:nvPr/>
        </p:nvSpPr>
        <p:spPr bwMode="auto">
          <a:xfrm>
            <a:off x="320040" y="346557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04</a:t>
            </a:r>
            <a:endParaRPr lang="en-US" sz="1300"/>
          </a:p>
        </p:txBody>
      </p:sp>
      <p:sp>
        <p:nvSpPr>
          <p:cNvPr id="1417123506" name="Text 13"/>
          <p:cNvSpPr/>
          <p:nvPr/>
        </p:nvSpPr>
        <p:spPr bwMode="auto">
          <a:xfrm>
            <a:off x="960120" y="3483864"/>
            <a:ext cx="7772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Контроль добового навантаження: ⚠️ &gt;12 год, ❌ &gt;24 год — блокування на рівні форми</a:t>
            </a:r>
            <a:endParaRPr lang="en-US" sz="1300"/>
          </a:p>
        </p:txBody>
      </p:sp>
      <p:sp>
        <p:nvSpPr>
          <p:cNvPr id="324525898" name="Shape 14"/>
          <p:cNvSpPr/>
          <p:nvPr/>
        </p:nvSpPr>
        <p:spPr bwMode="auto">
          <a:xfrm>
            <a:off x="320040" y="4224528"/>
            <a:ext cx="502920" cy="5029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32046570" name="Text 15"/>
          <p:cNvSpPr/>
          <p:nvPr/>
        </p:nvSpPr>
        <p:spPr bwMode="auto">
          <a:xfrm>
            <a:off x="320040" y="42245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05</a:t>
            </a:r>
            <a:endParaRPr lang="en-US" sz="1300"/>
          </a:p>
        </p:txBody>
      </p:sp>
      <p:sp>
        <p:nvSpPr>
          <p:cNvPr id="913787781" name="Text 16"/>
          <p:cNvSpPr/>
          <p:nvPr/>
        </p:nvSpPr>
        <p:spPr bwMode="auto">
          <a:xfrm>
            <a:off x="960120" y="4242816"/>
            <a:ext cx="7772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Зворотна сумісність: mapImportedTask конвертує старий JSON-формат у нові FK-поля</a:t>
            </a:r>
            <a:endParaRPr lang="en-US" sz="13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0">
    <p:bg>
      <p:bgPr shadeToTitle="0">
        <a:solidFill>
          <a:srgbClr val="0D1B2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1929774" name="Shape 0"/>
          <p:cNvSpPr/>
          <p:nvPr/>
        </p:nvSpPr>
        <p:spPr bwMode="auto">
          <a:xfrm>
            <a:off x="0" y="1920240"/>
            <a:ext cx="9144000" cy="45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79898808" name="Text 1"/>
          <p:cNvSpPr/>
          <p:nvPr/>
        </p:nvSpPr>
        <p:spPr bwMode="auto">
          <a:xfrm>
            <a:off x="457200" y="82296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4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Дякую за увагу!</a:t>
            </a:r>
            <a:endParaRPr lang="en-US" sz="4400"/>
          </a:p>
        </p:txBody>
      </p:sp>
      <p:sp>
        <p:nvSpPr>
          <p:cNvPr id="865042779" name="Text 2"/>
          <p:cNvSpPr/>
          <p:nvPr/>
        </p:nvSpPr>
        <p:spPr bwMode="auto">
          <a:xfrm>
            <a:off x="457200" y="21031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500" i="1">
                <a:solidFill>
                  <a:srgbClr val="8DA0B3"/>
                </a:solidFill>
                <a:latin typeface="Calibri"/>
                <a:ea typeface="Calibri"/>
                <a:cs typeface="Calibri"/>
              </a:rPr>
              <a:t>Трекер домашніх справ  ·  React + TypeScript + Node.js + SQLite</a:t>
            </a:r>
            <a:endParaRPr lang="en-US" sz="1500"/>
          </a:p>
        </p:txBody>
      </p:sp>
      <p:sp>
        <p:nvSpPr>
          <p:cNvPr id="1920134681" name="Text 3"/>
          <p:cNvSpPr/>
          <p:nvPr/>
        </p:nvSpPr>
        <p:spPr bwMode="auto">
          <a:xfrm>
            <a:off x="457200" y="2834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2000">
                <a:solidFill>
                  <a:srgbClr val="06B6D4"/>
                </a:solidFill>
                <a:latin typeface="Calibri"/>
                <a:ea typeface="Calibri"/>
                <a:cs typeface="Calibri"/>
              </a:rPr>
              <a:t>Готовий відповісти на запитання</a:t>
            </a:r>
            <a:endParaRPr lang="en-US" sz="2000"/>
          </a:p>
        </p:txBody>
      </p:sp>
      <p:sp>
        <p:nvSpPr>
          <p:cNvPr id="476868014" name="Text 4"/>
          <p:cNvSpPr/>
          <p:nvPr/>
        </p:nvSpPr>
        <p:spPr bwMode="auto">
          <a:xfrm>
            <a:off x="457200" y="3749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300">
                <a:solidFill>
                  <a:srgbClr val="8DA0B3"/>
                </a:solidFill>
                <a:latin typeface="Calibri"/>
                <a:ea typeface="Calibri"/>
                <a:cs typeface="Calibri"/>
              </a:rPr>
              <a:t>github.com/difuz1x/KursovaRepository</a:t>
            </a:r>
            <a:endParaRPr lang="en-US" sz="13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ONLYOFFICE/9.3.1.8</Application>
  <PresentationFormat>On-screen Show (4:3)</PresentationFormat>
  <Paragraphs>0</Paragraphs>
  <Slides>10</Slides>
  <Notes>10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Трекер домашніх справ</dc:title>
  <dc:subject>PptxGenJS Presentation</dc:subject>
  <dc:creator>PptxGenJS</dc:creator>
  <cp:lastModifiedBy/>
  <cp:revision>2</cp:revision>
  <dcterms:created xsi:type="dcterms:W3CDTF">2026-05-16T17:45:30Z</dcterms:created>
  <dcterms:modified xsi:type="dcterms:W3CDTF">2026-05-16T17:54:46Z</dcterms:modified>
</cp:coreProperties>
</file>